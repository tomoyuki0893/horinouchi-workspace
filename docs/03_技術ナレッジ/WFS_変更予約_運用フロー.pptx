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32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WFSグループ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11480" y="182880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変更予約 運用フロー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251460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A0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〜 人事異動の事前登録から自動反映まで 〜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11480" y="3154680"/>
            <a:ext cx="3840480" cy="47548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315468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変更予約テーブル（WFS_CHANGE_RESERVE）で実現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640080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67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2026年3月  テクノプロ・コンサルティングパートナーズ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D3261"/>
          </a:solidFill>
          <a:ln w="12700">
            <a:solidFill>
              <a:srgbClr val="1D32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なぜ変更予約テーブルが必要か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8595360" cy="365760"/>
          </a:xfrm>
          <a:prstGeom prst="rect">
            <a:avLst/>
          </a:prstGeom>
          <a:solidFill>
            <a:srgbClr val="EEF2FF"/>
          </a:solidFill>
          <a:ln w="19050">
            <a:solidFill>
              <a:srgbClr val="1D32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88720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3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既存WFSテーブルの限界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600200"/>
            <a:ext cx="8595360" cy="594360"/>
          </a:xfrm>
          <a:prstGeom prst="rect">
            <a:avLst/>
          </a:prstGeom>
          <a:solidFill>
            <a:srgbClr val="F4F5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600200"/>
            <a:ext cx="73152" cy="5943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6276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WFS_M_USR_GRP_DTL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87452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「現在有効な構成」しか持てない。有効開始日の概念がない。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258568"/>
            <a:ext cx="8595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258568"/>
            <a:ext cx="73152" cy="5943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22860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WFS_M_USR_GRP_DEPDTL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38912" y="253288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DTLを展開した結果。予約状態は表現できない。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0" y="294436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解決策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0" y="2944368"/>
            <a:ext cx="0" cy="274320"/>
          </a:xfrm>
          <a:prstGeom prst="line">
            <a:avLst/>
          </a:prstGeom>
          <a:noFill/>
          <a:ln w="3175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15968" y="315468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59669"/>
                </a:solidFill>
              </a:rPr>
              <a:t>▼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3401568"/>
            <a:ext cx="8595360" cy="1691640"/>
          </a:xfrm>
          <a:prstGeom prst="rect">
            <a:avLst/>
          </a:prstGeom>
          <a:solidFill>
            <a:srgbClr val="ECFDF5"/>
          </a:solidFill>
          <a:ln w="254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401568"/>
            <a:ext cx="8595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419856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WFS_CHANGE_RESERVE（変更予約テーブル）を新設する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11480" y="3858768"/>
            <a:ext cx="15544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91363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3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WFS_GROUP_ID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" y="43434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対象グループ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103120" y="3858768"/>
            <a:ext cx="15544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48840" y="391363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3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USER_ID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148840" y="43434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対象ユーザー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794760" y="3858768"/>
            <a:ext cx="15544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0" y="391363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3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CHANGE_TYPE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840480" y="43434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A=追加 D=削除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86400" y="3858768"/>
            <a:ext cx="15544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32120" y="391363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3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VALID_FROM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532120" y="43434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有効開始日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178040" y="3858768"/>
            <a:ext cx="15544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23760" y="391363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3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APPLIED_FLG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223760" y="43434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0=未適用 1=完了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74320" y="523036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これがWFSで新規テーブルを作ることが正当化される唯一のケース（既存DTLとは役割が異なる）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D3261"/>
          </a:solidFill>
          <a:ln w="12700">
            <a:solidFill>
              <a:srgbClr val="1D32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運用フロー全体像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2560320" cy="4389120"/>
          </a:xfrm>
          <a:prstGeom prst="rect">
            <a:avLst/>
          </a:prstGeom>
          <a:solidFill>
            <a:srgbClr val="F4F5F7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70432"/>
            <a:ext cx="2560320" cy="384048"/>
          </a:xfrm>
          <a:prstGeom prst="rect">
            <a:avLst/>
          </a:prstGeom>
          <a:solidFill>
            <a:srgbClr val="1D3261"/>
          </a:solidFill>
          <a:ln w="12700">
            <a:solidFill>
              <a:srgbClr val="1D32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7043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予約登録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84048" y="1664208"/>
            <a:ext cx="23317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1664208"/>
            <a:ext cx="237744" cy="237744"/>
          </a:xfrm>
          <a:prstGeom prst="rect">
            <a:avLst/>
          </a:prstGeom>
          <a:solidFill>
            <a:srgbClr val="1D3261"/>
          </a:solidFill>
          <a:ln w="12700">
            <a:solidFill>
              <a:srgbClr val="1D32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6642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58368" y="170992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人事異動情報を受領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84048" y="2359152"/>
            <a:ext cx="23317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4048" y="2359152"/>
            <a:ext cx="237744" cy="237744"/>
          </a:xfrm>
          <a:prstGeom prst="rect">
            <a:avLst/>
          </a:prstGeom>
          <a:solidFill>
            <a:srgbClr val="1D3261"/>
          </a:solidFill>
          <a:ln w="12700">
            <a:solidFill>
              <a:srgbClr val="1D32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3591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58368" y="240487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変更予約画面を開く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84048" y="3054096"/>
            <a:ext cx="23317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4048" y="3054096"/>
            <a:ext cx="237744" cy="237744"/>
          </a:xfrm>
          <a:prstGeom prst="rect">
            <a:avLst/>
          </a:prstGeom>
          <a:solidFill>
            <a:srgbClr val="1D3261"/>
          </a:solidFill>
          <a:ln w="12700">
            <a:solidFill>
              <a:srgbClr val="1D32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305409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58368" y="3099816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対象グループ・ユーザー・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変更種別・有効開始日を入力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84048" y="3749040"/>
            <a:ext cx="23317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048" y="3749040"/>
            <a:ext cx="237744" cy="237744"/>
          </a:xfrm>
          <a:prstGeom prst="rect">
            <a:avLst/>
          </a:prstGeom>
          <a:solidFill>
            <a:srgbClr val="1D3261"/>
          </a:solidFill>
          <a:ln w="12700">
            <a:solidFill>
              <a:srgbClr val="1D32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37490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58368" y="37947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確定→WFS_CHANGE_RESERVE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にINSERT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84048" y="4443984"/>
            <a:ext cx="23317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048" y="4443984"/>
            <a:ext cx="237744" cy="237744"/>
          </a:xfrm>
          <a:prstGeom prst="rect">
            <a:avLst/>
          </a:prstGeom>
          <a:solidFill>
            <a:srgbClr val="1D3261"/>
          </a:solidFill>
          <a:ln w="12700">
            <a:solidFill>
              <a:srgbClr val="1D32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444398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58368" y="4489704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予約一覧で内容確認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852928" y="3364992"/>
            <a:ext cx="384048" cy="0"/>
          </a:xfrm>
          <a:prstGeom prst="line">
            <a:avLst/>
          </a:prstGeom>
          <a:noFill/>
          <a:ln w="31750">
            <a:solidFill>
              <a:srgbClr val="E8630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08960" y="324612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630A"/>
                </a:solidFill>
              </a:rPr>
              <a:t>▶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246120" y="1170432"/>
            <a:ext cx="2560320" cy="4389120"/>
          </a:xfrm>
          <a:prstGeom prst="rect">
            <a:avLst/>
          </a:prstGeom>
          <a:solidFill>
            <a:srgbClr val="F4F5F7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46120" y="1170432"/>
            <a:ext cx="2560320" cy="384048"/>
          </a:xfrm>
          <a:prstGeom prst="rect">
            <a:avLst/>
          </a:prstGeom>
          <a:solidFill>
            <a:srgbClr val="6D4E9E"/>
          </a:solidFill>
          <a:ln w="12700">
            <a:solidFill>
              <a:srgbClr val="6D4E9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46120" y="117043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有効日まで待機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355848" y="1664208"/>
            <a:ext cx="23317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B4F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01568" y="171907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4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予約取消（任意）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401568" y="2084832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有効開始日前であれば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APPLIED_FLG=9で取消可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355848" y="2926080"/>
            <a:ext cx="23317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B4F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01568" y="2980944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4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予約確認（任意）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401568" y="3346704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予約一覧画面で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未適用の予約を確認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355848" y="4187952"/>
            <a:ext cx="23317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B4F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01568" y="4242816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4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変更不可ゾーン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401568" y="4608576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有効開始日当日以降は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取消操作をブロック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824728" y="3364992"/>
            <a:ext cx="384048" cy="0"/>
          </a:xfrm>
          <a:prstGeom prst="line">
            <a:avLst/>
          </a:prstGeom>
          <a:noFill/>
          <a:ln w="31750">
            <a:solidFill>
              <a:srgbClr val="E8630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80760" y="324612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630A"/>
                </a:solidFill>
              </a:rPr>
              <a:t>▶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217920" y="1170432"/>
            <a:ext cx="2606040" cy="4389120"/>
          </a:xfrm>
          <a:prstGeom prst="rect">
            <a:avLst/>
          </a:prstGeom>
          <a:solidFill>
            <a:srgbClr val="F4F5F7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217920" y="1170432"/>
            <a:ext cx="260604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17920" y="117043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日次バッチ自動適用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327648" y="1664208"/>
            <a:ext cx="23774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327648" y="1664208"/>
            <a:ext cx="237744" cy="2377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27648" y="16642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601968" y="170992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毎朝バッチ起動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327648" y="2359152"/>
            <a:ext cx="23774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327648" y="2359152"/>
            <a:ext cx="237744" cy="2377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27648" y="23591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601968" y="240487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VALID_FROM&lt;=本日 AND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APPLIED_FLG='0' を抽出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327648" y="3054096"/>
            <a:ext cx="23774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327648" y="3054096"/>
            <a:ext cx="237744" cy="2377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327648" y="305409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601968" y="309981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CHANGE_TYPE=A→DTLにINSERT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CHANGE_TYPE=D→DTLからDELETE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327648" y="3749040"/>
            <a:ext cx="23774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327648" y="3749040"/>
            <a:ext cx="237744" cy="2377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327648" y="37490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601968" y="37947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DEPDTL を再展開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6327648" y="4443984"/>
            <a:ext cx="23774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327648" y="4443984"/>
            <a:ext cx="237744" cy="2377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327648" y="444398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6601968" y="448970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APPLIED_FLG='1'に更新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274320" y="571500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冪等設計：バッチ失敗時もAPPLIED_FLGが0のまま残り、翌日再実行される。INSERT前に重複チェックを必ず実施。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D3261"/>
          </a:solidFill>
          <a:ln w="12700">
            <a:solidFill>
              <a:srgbClr val="1D32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APPLIED_FLG 状態遷移と操作制御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14400" y="1280160"/>
            <a:ext cx="2377440" cy="2011680"/>
          </a:xfrm>
          <a:prstGeom prst="rect">
            <a:avLst/>
          </a:prstGeom>
          <a:solidFill>
            <a:srgbClr val="F4F5F7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280160"/>
            <a:ext cx="2377440" cy="73152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0" y="1481328"/>
            <a:ext cx="914400" cy="914400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0" y="148132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914400" y="248716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未適用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8346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予約登録直後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有効開始日前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749040" y="1280160"/>
            <a:ext cx="2377440" cy="2011680"/>
          </a:xfrm>
          <a:prstGeom prst="rect">
            <a:avLst/>
          </a:prstGeom>
          <a:solidFill>
            <a:srgbClr val="F4F5F7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749040" y="1280160"/>
            <a:ext cx="2377440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80560" y="1481328"/>
            <a:ext cx="914400" cy="9144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0" y="148132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3749040" y="248716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適用済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749040" y="28346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バッチにより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DTLに反映完了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583680" y="1280160"/>
            <a:ext cx="2377440" cy="2011680"/>
          </a:xfrm>
          <a:prstGeom prst="rect">
            <a:avLst/>
          </a:prstGeom>
          <a:solidFill>
            <a:srgbClr val="F4F5F7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83680" y="1280160"/>
            <a:ext cx="237744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0" y="1481328"/>
            <a:ext cx="914400" cy="9144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0" y="148132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6583680" y="248716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　消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83680" y="28346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有効開始日前に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手動取消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310128" y="2286000"/>
            <a:ext cx="420624" cy="0"/>
          </a:xfrm>
          <a:prstGeom prst="line">
            <a:avLst/>
          </a:prstGeom>
          <a:noFill/>
          <a:ln w="31750">
            <a:solidFill>
              <a:srgbClr val="0596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167128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59669"/>
                </a:solidFill>
              </a:rPr>
              <a:t>▶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063240" y="24231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日次バッチ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（VALID_FROM&lt;=本日）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103120" y="3310128"/>
            <a:ext cx="4480560" cy="0"/>
          </a:xfrm>
          <a:prstGeom prst="line">
            <a:avLst/>
          </a:prstGeom>
          <a:noFill/>
          <a:ln w="19050">
            <a:solidFill>
              <a:srgbClr val="DC2626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6446520" y="3182112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C2626"/>
                </a:solidFill>
              </a:rPr>
              <a:t>▶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00400" y="340156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手動取消（有効開始日前のみ）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3840480"/>
            <a:ext cx="8595360" cy="365760"/>
          </a:xfrm>
          <a:prstGeom prst="rect">
            <a:avLst/>
          </a:prstGeom>
          <a:solidFill>
            <a:srgbClr val="FEF2F2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3858768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【操作制御ルール】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74320" y="4251960"/>
            <a:ext cx="8595360" cy="457200"/>
          </a:xfrm>
          <a:prstGeom prst="rect">
            <a:avLst/>
          </a:prstGeom>
          <a:solidFill>
            <a:srgbClr val="FFF5F5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" y="4251960"/>
            <a:ext cx="73152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8912" y="425196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有効開始日当日以降は取消操作をシステムでブロック（画面バリデーション）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274320" y="4754880"/>
            <a:ext cx="8595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74320" y="4754880"/>
            <a:ext cx="73152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8912" y="475488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同一ユーザー・同一グループへの矛盾した予約（同日に追加+削除）は登録時にエラー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274320" y="5257800"/>
            <a:ext cx="8595360" cy="457200"/>
          </a:xfrm>
          <a:prstGeom prst="rect">
            <a:avLst/>
          </a:prstGeom>
          <a:solidFill>
            <a:srgbClr val="FFF5F5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4320" y="5257800"/>
            <a:ext cx="73152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38912" y="52578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バッチ実行中はWFS申請・承認操作を停止推奨（DEPDTL再展開中の不整合防止）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D3261"/>
          </a:solidFill>
          <a:ln w="12700">
            <a:solidFill>
              <a:srgbClr val="1D32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テーブル関連図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1371600" cy="320040"/>
          </a:xfrm>
          <a:prstGeom prst="rect">
            <a:avLst/>
          </a:prstGeom>
          <a:solidFill>
            <a:srgbClr val="1D3261"/>
          </a:solidFill>
          <a:ln w="12700">
            <a:solidFill>
              <a:srgbClr val="1D32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7043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既存テーブル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828800" y="1170432"/>
            <a:ext cx="1371600" cy="320040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117043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新規テーブル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83280" y="1325880"/>
            <a:ext cx="548640" cy="0"/>
          </a:xfrm>
          <a:prstGeom prst="line">
            <a:avLst/>
          </a:prstGeom>
          <a:noFill/>
          <a:ln w="19050">
            <a:solidFill>
              <a:srgbClr val="1D32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50208" y="120700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参照関係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1325880"/>
            <a:ext cx="548640" cy="0"/>
          </a:xfrm>
          <a:prstGeom prst="line">
            <a:avLst/>
          </a:prstGeom>
          <a:noFill/>
          <a:ln w="25400">
            <a:solidFill>
              <a:srgbClr val="E8630A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5687568" y="120700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バッチ反映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1664208"/>
            <a:ext cx="3200400" cy="2926080"/>
          </a:xfrm>
          <a:prstGeom prst="rect">
            <a:avLst/>
          </a:prstGeom>
          <a:solidFill>
            <a:srgbClr val="FFF4ED"/>
          </a:solidFill>
          <a:ln w="25400">
            <a:solidFill>
              <a:srgbClr val="E8630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1664208"/>
            <a:ext cx="3200400" cy="384048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1682496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WFS_CHANGE_RESERVE（新規）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38912" y="21031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RESERVE_ID     PK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38912" y="245059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WFS_GROUP_ID   FK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8912" y="279806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USER_ID        FK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38912" y="314553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CHANGE_TYPE    A/D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38912" y="349300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VALID_FROM     有効開始日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38912" y="38404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APPLIED_FLG    0/1/9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493008" y="2926080"/>
            <a:ext cx="1097280" cy="0"/>
          </a:xfrm>
          <a:prstGeom prst="line">
            <a:avLst/>
          </a:prstGeom>
          <a:noFill/>
          <a:ln w="25400">
            <a:solidFill>
              <a:srgbClr val="E8630A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3493008" y="27614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バッチ反映▶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63440" y="1664208"/>
            <a:ext cx="4114800" cy="1298448"/>
          </a:xfrm>
          <a:prstGeom prst="rect">
            <a:avLst/>
          </a:prstGeom>
          <a:solidFill>
            <a:srgbClr val="EEF2FF"/>
          </a:solidFill>
          <a:ln w="19050">
            <a:solidFill>
              <a:srgbClr val="1D326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1664208"/>
            <a:ext cx="4114800" cy="384048"/>
          </a:xfrm>
          <a:prstGeom prst="rect">
            <a:avLst/>
          </a:prstGeom>
          <a:solidFill>
            <a:srgbClr val="1D3261"/>
          </a:solidFill>
          <a:ln w="12700">
            <a:solidFill>
              <a:srgbClr val="1D32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168249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WFS_M_USR_GRP_DTL（既存）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00600" y="2121408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WFS_GROUP_ID   PK/FK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ID（USER_IDまたはグループID）  PK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720840" y="2980944"/>
            <a:ext cx="0" cy="320040"/>
          </a:xfrm>
          <a:prstGeom prst="line">
            <a:avLst/>
          </a:prstGeom>
          <a:noFill/>
          <a:ln w="19050">
            <a:solidFill>
              <a:srgbClr val="1D32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0" y="320040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D3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▼再展開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63440" y="3520440"/>
            <a:ext cx="4114800" cy="1298448"/>
          </a:xfrm>
          <a:prstGeom prst="rect">
            <a:avLst/>
          </a:prstGeom>
          <a:solidFill>
            <a:srgbClr val="EEF2FF"/>
          </a:solidFill>
          <a:ln w="19050">
            <a:solidFill>
              <a:srgbClr val="1D326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3520440"/>
            <a:ext cx="4114800" cy="384048"/>
          </a:xfrm>
          <a:prstGeom prst="rect">
            <a:avLst/>
          </a:prstGeom>
          <a:solidFill>
            <a:srgbClr val="1D3261"/>
          </a:solidFill>
          <a:ln w="12700">
            <a:solidFill>
              <a:srgbClr val="1D32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9160" y="353872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WFS_M_USR_GRP_DEPDTL（既存）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00600" y="397764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WFS_GROUP_ID   PK/FK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USER_ID（展開済みユーザーID）  PK/FK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663440" y="4956048"/>
            <a:ext cx="4114800" cy="594360"/>
          </a:xfrm>
          <a:prstGeom prst="rect">
            <a:avLst/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09160" y="500176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承認権限判定・メール送信は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このテーブル（DEPDTL）のみを参照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960120" y="4608576"/>
            <a:ext cx="0" cy="658368"/>
          </a:xfrm>
          <a:prstGeom prst="line">
            <a:avLst/>
          </a:prstGeom>
          <a:noFill/>
          <a:ln w="12700">
            <a:solidFill>
              <a:srgbClr val="6B7280"/>
            </a:solidFill>
            <a:prstDash val="sysDash"/>
          </a:ln>
        </p:spPr>
      </p:sp>
      <p:sp>
        <p:nvSpPr>
          <p:cNvPr id="37" name="Shape 35"/>
          <p:cNvSpPr/>
          <p:nvPr/>
        </p:nvSpPr>
        <p:spPr>
          <a:xfrm>
            <a:off x="274320" y="5285232"/>
            <a:ext cx="2286000" cy="777240"/>
          </a:xfrm>
          <a:prstGeom prst="rect">
            <a:avLst/>
          </a:prstGeom>
          <a:solidFill>
            <a:srgbClr val="F4F5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533095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TLN_M_USER（既存）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USER_ID PK / USER_NM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74320" y="61081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USER_IDの存在確認用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697480" y="5285232"/>
            <a:ext cx="1737360" cy="777240"/>
          </a:xfrm>
          <a:prstGeom prst="rect">
            <a:avLst/>
          </a:prstGeom>
          <a:solidFill>
            <a:srgbClr val="F4F5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0" y="5330952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WFS_M_USR_GRP_HED（既存）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WFS_GROUP_ID PK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103120" y="4608576"/>
            <a:ext cx="59436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ysDash"/>
          </a:ln>
        </p:spPr>
      </p:sp>
      <p:sp>
        <p:nvSpPr>
          <p:cNvPr id="43" name="Text 41"/>
          <p:cNvSpPr/>
          <p:nvPr/>
        </p:nvSpPr>
        <p:spPr>
          <a:xfrm>
            <a:off x="2697480" y="61081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GROUP_IDの存在確認用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D3261"/>
          </a:solidFill>
          <a:ln w="12700">
            <a:solidFill>
              <a:srgbClr val="1D32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必要な画面構成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8595360" cy="1444752"/>
          </a:xfrm>
          <a:prstGeom prst="rect">
            <a:avLst/>
          </a:prstGeom>
          <a:solidFill>
            <a:srgbClr val="F4F5F7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70432"/>
            <a:ext cx="8595360" cy="384048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97864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変更予約登録画面（新規）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54112" y="1225296"/>
            <a:ext cx="10058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54112" y="122529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新規構築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" y="1691640"/>
            <a:ext cx="182880" cy="182880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" y="162763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グループ選択（WFS_M_USR_GRP_HED から検索）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8912" y="2011680"/>
            <a:ext cx="182880" cy="182880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" y="194767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ユーザー選択（TLN_M_USER から検索）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8912" y="2331720"/>
            <a:ext cx="182880" cy="182880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" y="226771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変更種別選択（追加 / 削除）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36592" y="1691640"/>
            <a:ext cx="182880" cy="182880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74336" y="162763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有効開始日入力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36592" y="2011680"/>
            <a:ext cx="182880" cy="182880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74336" y="194767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確定→ WFS_CHANGE_RESERVE に INSERT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2743200"/>
            <a:ext cx="8595360" cy="1444752"/>
          </a:xfrm>
          <a:prstGeom prst="rect">
            <a:avLst/>
          </a:prstGeom>
          <a:solidFill>
            <a:srgbClr val="F4F5F7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743200"/>
            <a:ext cx="8595360" cy="384048"/>
          </a:xfrm>
          <a:prstGeom prst="rect">
            <a:avLst/>
          </a:prstGeom>
          <a:solidFill>
            <a:srgbClr val="6D4E9E"/>
          </a:solidFill>
          <a:ln w="12700">
            <a:solidFill>
              <a:srgbClr val="6D4E9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77063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変更予約一覧・取消画面（新規）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754112" y="2798064"/>
            <a:ext cx="10058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54112" y="279806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D4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新規構築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38912" y="3264408"/>
            <a:ext cx="182880" cy="182880"/>
          </a:xfrm>
          <a:prstGeom prst="rect">
            <a:avLst/>
          </a:prstGeom>
          <a:solidFill>
            <a:srgbClr val="6D4E9E"/>
          </a:solidFill>
          <a:ln w="12700">
            <a:solidFill>
              <a:srgbClr val="6D4E9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6656" y="320040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未適用予約の一覧表示（APPLIED_FLG=0）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38912" y="3584448"/>
            <a:ext cx="182880" cy="182880"/>
          </a:xfrm>
          <a:prstGeom prst="rect">
            <a:avLst/>
          </a:prstGeom>
          <a:solidFill>
            <a:srgbClr val="6D4E9E"/>
          </a:solidFill>
          <a:ln w="12700">
            <a:solidFill>
              <a:srgbClr val="6D4E9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6656" y="352044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有効開始日・グループ・ユーザーで絞り込み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38912" y="3904488"/>
            <a:ext cx="182880" cy="182880"/>
          </a:xfrm>
          <a:prstGeom prst="rect">
            <a:avLst/>
          </a:prstGeom>
          <a:solidFill>
            <a:srgbClr val="6D4E9E"/>
          </a:solidFill>
          <a:ln w="12700">
            <a:solidFill>
              <a:srgbClr val="6D4E9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6656" y="384048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有効開始日前の予約は取消ボタンを表示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36592" y="3264408"/>
            <a:ext cx="182880" cy="182880"/>
          </a:xfrm>
          <a:prstGeom prst="rect">
            <a:avLst/>
          </a:prstGeom>
          <a:solidFill>
            <a:srgbClr val="6D4E9E"/>
          </a:solidFill>
          <a:ln w="12700">
            <a:solidFill>
              <a:srgbClr val="6D4E9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74336" y="320040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当日以降の予約は取消ボタンを非表示（制御）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736592" y="3584448"/>
            <a:ext cx="182880" cy="182880"/>
          </a:xfrm>
          <a:prstGeom prst="rect">
            <a:avLst/>
          </a:prstGeom>
          <a:solidFill>
            <a:srgbClr val="6D4E9E"/>
          </a:solidFill>
          <a:ln w="12700">
            <a:solidFill>
              <a:srgbClr val="6D4E9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74336" y="352044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適用済・取消済の履歴も参照可能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74320" y="4315968"/>
            <a:ext cx="8595360" cy="1444752"/>
          </a:xfrm>
          <a:prstGeom prst="rect">
            <a:avLst/>
          </a:prstGeom>
          <a:solidFill>
            <a:srgbClr val="F4F5F7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74320" y="4315968"/>
            <a:ext cx="8595360" cy="384048"/>
          </a:xfrm>
          <a:prstGeom prst="rect">
            <a:avLst/>
          </a:prstGeom>
          <a:solidFill>
            <a:srgbClr val="1D3261"/>
          </a:solidFill>
          <a:ln w="12700">
            <a:solidFill>
              <a:srgbClr val="1D326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434340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ユーザーグループ照会画面（既存改良）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7754112" y="4370832"/>
            <a:ext cx="10058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54112" y="437083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3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既存改良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38912" y="4837176"/>
            <a:ext cx="182880" cy="182880"/>
          </a:xfrm>
          <a:prstGeom prst="rect">
            <a:avLst/>
          </a:prstGeom>
          <a:solidFill>
            <a:srgbClr val="1D3261"/>
          </a:solidFill>
          <a:ln w="12700">
            <a:solidFill>
              <a:srgbClr val="1D326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76656" y="4773168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ユーザーIDで検索 → 所属グループ一覧を表示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38912" y="5157216"/>
            <a:ext cx="182880" cy="182880"/>
          </a:xfrm>
          <a:prstGeom prst="rect">
            <a:avLst/>
          </a:prstGeom>
          <a:solidFill>
            <a:srgbClr val="1D3261"/>
          </a:solidFill>
          <a:ln w="12700">
            <a:solidFill>
              <a:srgbClr val="1D326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6656" y="5093208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DEPDTL を USER_ID で引く（読み取り専用）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736592" y="4837176"/>
            <a:ext cx="182880" cy="182880"/>
          </a:xfrm>
          <a:prstGeom prst="rect">
            <a:avLst/>
          </a:prstGeom>
          <a:solidFill>
            <a:srgbClr val="1D3261"/>
          </a:solidFill>
          <a:ln w="12700">
            <a:solidFill>
              <a:srgbClr val="1D326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74336" y="4773168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現在有効な所属グループのみ表示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736592" y="5157216"/>
            <a:ext cx="182880" cy="182880"/>
          </a:xfrm>
          <a:prstGeom prst="rect">
            <a:avLst/>
          </a:prstGeom>
          <a:solidFill>
            <a:srgbClr val="1D3261"/>
          </a:solidFill>
          <a:ln w="12700">
            <a:solidFill>
              <a:srgbClr val="1D326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74336" y="5093208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未来の予約状況は予約一覧画面で確認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D3261"/>
          </a:solidFill>
          <a:ln w="12700">
            <a:solidFill>
              <a:srgbClr val="1D32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運用上の注意事項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8595360" cy="365760"/>
          </a:xfrm>
          <a:prstGeom prst="rect">
            <a:avLst/>
          </a:prstGeom>
          <a:solidFill>
            <a:srgbClr val="F8F9FA"/>
          </a:solidFill>
          <a:ln w="19050">
            <a:solidFill>
              <a:srgbClr val="E8630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97864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【予約登録時】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572768"/>
            <a:ext cx="8595360" cy="347472"/>
          </a:xfrm>
          <a:prstGeom prst="rect">
            <a:avLst/>
          </a:prstGeom>
          <a:solidFill>
            <a:srgbClr val="F4F5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572768"/>
            <a:ext cx="73152" cy="347472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572768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有効開始日は必ず異動発令日（TALONログインが有効になる日）に合わせること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938528"/>
            <a:ext cx="8595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938528"/>
            <a:ext cx="73152" cy="347472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1938528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同一ユーザー・同一グループへの矛盾予約（同日追加+削除）は画面でエラー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304288"/>
            <a:ext cx="8595360" cy="347472"/>
          </a:xfrm>
          <a:prstGeom prst="rect">
            <a:avLst/>
          </a:prstGeom>
          <a:solidFill>
            <a:srgbClr val="F4F5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304288"/>
            <a:ext cx="73152" cy="347472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2304288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複数ユーザーの一括予約は1件ずつ登録（将来的にExcel取込で効率化検討）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743200"/>
            <a:ext cx="8595360" cy="365760"/>
          </a:xfrm>
          <a:prstGeom prst="rect">
            <a:avLst/>
          </a:prstGeom>
          <a:solidFill>
            <a:srgbClr val="F8F9FA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770632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【バッチ実行時】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74320" y="3145536"/>
            <a:ext cx="8595360" cy="347472"/>
          </a:xfrm>
          <a:prstGeom prst="rect">
            <a:avLst/>
          </a:prstGeom>
          <a:solidFill>
            <a:srgbClr val="F4F5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3145536"/>
            <a:ext cx="73152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3145536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バッチ実行中（DEPDTL再展開中）はWFSの申請・承認操作を停止推奨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3511296"/>
            <a:ext cx="8595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511296"/>
            <a:ext cx="73152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3511296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バッチ失敗時はAPPLIED_FLGが0のまま残る→翌日自動再実行（冪等設計）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3877056"/>
            <a:ext cx="8595360" cy="347472"/>
          </a:xfrm>
          <a:prstGeom prst="rect">
            <a:avLst/>
          </a:prstGeom>
          <a:solidFill>
            <a:srgbClr val="F4F5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3877056"/>
            <a:ext cx="73152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" y="3877056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INSERT前に重複チェックを必ず実施すること（同じユーザーが二重登録されないよう）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4315968"/>
            <a:ext cx="8595360" cy="365760"/>
          </a:xfrm>
          <a:prstGeom prst="rect">
            <a:avLst/>
          </a:prstGeom>
          <a:solidFill>
            <a:srgbClr val="F8F9FA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4343400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【取消操作時】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274320" y="4718304"/>
            <a:ext cx="8595360" cy="347472"/>
          </a:xfrm>
          <a:prstGeom prst="rect">
            <a:avLst/>
          </a:prstGeom>
          <a:solidFill>
            <a:srgbClr val="F4F5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4718304"/>
            <a:ext cx="73152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8912" y="4718304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有効開始日当日以降の取消は不可（システムでブロック）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4320" y="5084064"/>
            <a:ext cx="8595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5084064"/>
            <a:ext cx="73152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8912" y="5084064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誤って適用済（APPLIED_FLG=1）になった場合は逆方向の予約を新規登録して対処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74320" y="5449824"/>
            <a:ext cx="8595360" cy="347472"/>
          </a:xfrm>
          <a:prstGeom prst="rect">
            <a:avLst/>
          </a:prstGeom>
          <a:solidFill>
            <a:srgbClr val="F4F5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4320" y="5449824"/>
            <a:ext cx="73152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8912" y="5449824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取消はAPPLIED_FLG=9への更新のみ。物理削除は行わない（履歴保持）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2026-03-15T05:24:20Z</dcterms:created>
  <dcterms:modified xsi:type="dcterms:W3CDTF">2026-03-15T05:24:20Z</dcterms:modified>
</cp:coreProperties>
</file>