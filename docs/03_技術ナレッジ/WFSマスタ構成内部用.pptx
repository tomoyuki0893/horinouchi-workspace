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  <p:sldMasterId id="2147483698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67" r:id="rId6"/>
    <p:sldId id="265" r:id="rId7"/>
    <p:sldId id="268" r:id="rId8"/>
    <p:sldId id="269" r:id="rId9"/>
    <p:sldId id="270" r:id="rId10"/>
    <p:sldId id="261" r:id="rId11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>
          <p15:clr>
            <a:srgbClr val="A4A3A4"/>
          </p15:clr>
        </p15:guide>
        <p15:guide id="2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9E"/>
    <a:srgbClr val="EA8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4292D-44F7-426C-9274-55C947715C85}" v="15" dt="2026-03-15T05:47:14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45" autoAdjust="0"/>
  </p:normalViewPr>
  <p:slideViewPr>
    <p:cSldViewPr showGuides="1">
      <p:cViewPr varScale="1">
        <p:scale>
          <a:sx n="144" d="100"/>
          <a:sy n="144" d="100"/>
        </p:scale>
        <p:origin x="1932" y="312"/>
      </p:cViewPr>
      <p:guideLst>
        <p:guide orient="horz" pos="2364"/>
        <p:guide pos="57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4032" y="108"/>
      </p:cViewPr>
      <p:guideLst>
        <p:guide orient="horz" pos="3107"/>
        <p:guide pos="212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30A86-1025-41EC-965E-96557F931730}" type="datetimeFigureOut">
              <a:rPr kumimoji="1" lang="ja-JP" altLang="en-US" smtClean="0"/>
              <a:pPr/>
              <a:t>2026/3/15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9AD47-97AE-4473-BBA1-94240F7D1D1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9F10F-5FFC-4FC6-9AA9-B176D899B293}" type="datetimeFigureOut">
              <a:rPr kumimoji="1" lang="ja-JP" altLang="en-US" smtClean="0"/>
              <a:pPr/>
              <a:t>2026/3/15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C0384-273B-4B7F-8727-04C553CCFBD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0E1AB11-F0DC-105F-4932-4B84E66065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450" y="268324"/>
            <a:ext cx="2807050" cy="106317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6516" y="1952835"/>
            <a:ext cx="7128000" cy="1512000"/>
          </a:xfrm>
        </p:spPr>
        <p:txBody>
          <a:bodyPr anchor="ctr">
            <a:noAutofit/>
          </a:bodyPr>
          <a:lstStyle>
            <a:lvl1pPr algn="l"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kumimoji="1" lang="ja-JP" altLang="en-US" dirty="0"/>
              <a:t>スライド　プレゼンテーションタイトル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22pt</a:t>
            </a:r>
            <a:br>
              <a:rPr kumimoji="1" lang="en-US" altLang="ja-JP" dirty="0"/>
            </a:br>
            <a:r>
              <a:rPr kumimoji="1" lang="ja-JP" altLang="en-US" dirty="0"/>
              <a:t>行間 </a:t>
            </a:r>
            <a:r>
              <a:rPr kumimoji="1" lang="en-US" altLang="ja-JP" dirty="0"/>
              <a:t>42pt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97016" y="3753036"/>
            <a:ext cx="4500000" cy="1296144"/>
          </a:xfrm>
        </p:spPr>
        <p:txBody>
          <a:bodyPr/>
          <a:lstStyle>
            <a:lvl1pPr marL="0" indent="0" algn="l">
              <a:lnSpc>
                <a:spcPts val="2800"/>
              </a:lnSpc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サブタイトル　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18pt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28pt</a:t>
            </a:r>
            <a:r>
              <a:rPr kumimoji="1" lang="ja-JP" altLang="en-US" dirty="0"/>
              <a:t>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595735" y="5337212"/>
            <a:ext cx="1014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テキスト プレースホルダ 15"/>
          <p:cNvSpPr>
            <a:spLocks noGrp="1"/>
          </p:cNvSpPr>
          <p:nvPr>
            <p:ph type="body" sz="quarter" idx="11" hasCustomPrompt="1"/>
          </p:nvPr>
        </p:nvSpPr>
        <p:spPr>
          <a:xfrm>
            <a:off x="595735" y="5697252"/>
            <a:ext cx="1404937" cy="325437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&lt;date&gt;</a:t>
            </a:r>
            <a:endParaRPr kumimoji="1" lang="ja-JP" altLang="en-US" dirty="0"/>
          </a:p>
        </p:txBody>
      </p:sp>
      <p:sp>
        <p:nvSpPr>
          <p:cNvPr id="19" name="テキスト プレースホルダ 18"/>
          <p:cNvSpPr>
            <a:spLocks noGrp="1"/>
          </p:cNvSpPr>
          <p:nvPr>
            <p:ph type="body" sz="quarter" idx="12" hasCustomPrompt="1"/>
          </p:nvPr>
        </p:nvSpPr>
        <p:spPr>
          <a:xfrm>
            <a:off x="380492" y="672694"/>
            <a:ext cx="3168650" cy="39528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kumimoji="1" lang="ja-JP" altLang="en-US" dirty="0"/>
              <a:t>株式会社○○御中</a:t>
            </a:r>
          </a:p>
        </p:txBody>
      </p:sp>
      <p:sp>
        <p:nvSpPr>
          <p:cNvPr id="10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bg>
      <p:bgPr>
        <a:solidFill>
          <a:schemeClr val="bg2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6516" y="1953004"/>
            <a:ext cx="7128000" cy="151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中表紙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40pt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White</a:t>
            </a:r>
            <a:endParaRPr kumimoji="1" lang="ja-JP" altLang="en-US" dirty="0"/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016" y="3753036"/>
            <a:ext cx="4500000" cy="1296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baseline="0"/>
            </a:lvl1pPr>
          </a:lstStyle>
          <a:p>
            <a:pPr lvl="0"/>
            <a:r>
              <a:rPr kumimoji="1" lang="ja-JP" altLang="en-US" dirty="0"/>
              <a:t>サブタイトル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・行間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White </a:t>
            </a:r>
            <a:endParaRPr kumimoji="1" lang="ja-JP" altLang="en-US" dirty="0"/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rgbClr val="00809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Copyright © TechnoPro, Inc. </a:t>
            </a:r>
            <a:r>
              <a:rPr kumimoji="1" lang="en-US" altLang="ja-JP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 Partners Company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All Rights Reserved.</a:t>
            </a:r>
          </a:p>
        </p:txBody>
      </p:sp>
      <p:sp>
        <p:nvSpPr>
          <p:cNvPr id="13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rgbClr val="EA8712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メイリオ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々表紙">
    <p:bg>
      <p:bgPr>
        <a:solidFill>
          <a:schemeClr val="accent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97316" y="1953004"/>
            <a:ext cx="7128000" cy="151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ja-JP" altLang="en-US" dirty="0"/>
              <a:t>中々表紙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・行間 </a:t>
            </a:r>
            <a:r>
              <a:rPr kumimoji="1" lang="en-US" altLang="ja-JP" dirty="0"/>
              <a:t>40pt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</a:t>
            </a:r>
            <a:endParaRPr kumimoji="1" lang="ja-JP" altLang="en-US" dirty="0"/>
          </a:p>
        </p:txBody>
      </p:sp>
      <p:sp>
        <p:nvSpPr>
          <p:cNvPr id="7" name="テキスト プレースホルダ 6"/>
          <p:cNvSpPr>
            <a:spLocks noGrp="1"/>
          </p:cNvSpPr>
          <p:nvPr>
            <p:ph type="body" sz="quarter" idx="10" hasCustomPrompt="1"/>
          </p:nvPr>
        </p:nvSpPr>
        <p:spPr>
          <a:xfrm>
            <a:off x="597016" y="3753036"/>
            <a:ext cx="4500000" cy="1296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b="1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rgbClr val="00809E"/>
                </a:solidFill>
              </a:defRPr>
            </a:lvl2pPr>
            <a:lvl3pPr>
              <a:defRPr>
                <a:solidFill>
                  <a:srgbClr val="00809E"/>
                </a:solidFill>
              </a:defRPr>
            </a:lvl3pPr>
            <a:lvl4pPr>
              <a:defRPr>
                <a:solidFill>
                  <a:srgbClr val="00809E"/>
                </a:solidFill>
              </a:defRPr>
            </a:lvl4pPr>
            <a:lvl5pPr>
              <a:defRPr>
                <a:solidFill>
                  <a:srgbClr val="00809E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ja-JP" altLang="en-US" dirty="0"/>
              <a:t>サブタイトル　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・行間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　カラー：</a:t>
            </a:r>
            <a:r>
              <a:rPr kumimoji="1" lang="en-US" altLang="ja-JP" dirty="0"/>
              <a:t>Gray </a:t>
            </a:r>
            <a:endParaRPr kumimoji="1" lang="ja-JP" altLang="en-US" dirty="0"/>
          </a:p>
        </p:txBody>
      </p:sp>
      <p:sp>
        <p:nvSpPr>
          <p:cNvPr id="10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rgbClr val="00809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メイリオ"/>
                <a:cs typeface="+mn-cs"/>
              </a:rPr>
              <a:t>       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TechnoPro, Inc. </a:t>
            </a:r>
            <a:r>
              <a:rPr kumimoji="1" lang="en-US" altLang="ja-JP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Consulting Partners Company</a:t>
            </a:r>
            <a:r>
              <a:rPr kumimoji="1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All Rights Reserved.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rgbClr val="EA8712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/>
              <a:ea typeface="メイリオ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DF29F17-4ED2-32E0-163A-FECD780A4F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931" y="2858881"/>
            <a:ext cx="2774157" cy="1050712"/>
          </a:xfrm>
          <a:prstGeom prst="rect">
            <a:avLst/>
          </a:prstGeom>
        </p:spPr>
      </p:pic>
      <p:sp>
        <p:nvSpPr>
          <p:cNvPr id="8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リードあり コンテンツ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08484" y="274638"/>
            <a:ext cx="9277200" cy="43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200" b="1" baseline="0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   </a:t>
            </a:r>
            <a:r>
              <a:rPr kumimoji="1" lang="ja-JP" altLang="en-US" dirty="0"/>
              <a:t>和文 メイリオ </a:t>
            </a:r>
            <a:r>
              <a:rPr kumimoji="1" lang="en-US" altLang="ja-JP" dirty="0"/>
              <a:t>Bold/</a:t>
            </a:r>
            <a:r>
              <a:rPr kumimoji="1" lang="ja-JP" altLang="en-US" dirty="0"/>
              <a:t>英数字 </a:t>
            </a:r>
            <a:r>
              <a:rPr kumimoji="1" lang="en-US" altLang="ja-JP" dirty="0"/>
              <a:t>Verdana Bold 22pt, Black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>
          <a:xfrm>
            <a:off x="9093200" y="6633356"/>
            <a:ext cx="812799" cy="224644"/>
          </a:xfrm>
        </p:spPr>
        <p:txBody>
          <a:bodyPr/>
          <a:lstStyle>
            <a:lvl1pPr algn="ctr">
              <a:defRPr sz="1000"/>
            </a:lvl1pPr>
          </a:lstStyle>
          <a:p>
            <a:fld id="{3913B849-B299-43F7-89E0-BDEEC7CFE234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11" hasCustomPrompt="1"/>
          </p:nvPr>
        </p:nvSpPr>
        <p:spPr>
          <a:xfrm>
            <a:off x="308484" y="836613"/>
            <a:ext cx="9277200" cy="792000"/>
          </a:xfrm>
        </p:spPr>
        <p:txBody>
          <a:bodyPr/>
          <a:lstStyle>
            <a:lvl4pPr>
              <a:lnSpc>
                <a:spcPts val="2600"/>
              </a:lnSpc>
              <a:defRPr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3"/>
            <a:r>
              <a:rPr kumimoji="1" lang="ja-JP" altLang="en-US" dirty="0"/>
              <a:t>リード原則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</a:t>
            </a:r>
            <a:br>
              <a:rPr kumimoji="1" lang="en-US" altLang="ja-JP" dirty="0"/>
            </a:br>
            <a:r>
              <a:rPr kumimoji="1" lang="ja-JP" altLang="en-US" dirty="0"/>
              <a:t>和文 メイリオ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</a:t>
            </a:r>
            <a:r>
              <a:rPr kumimoji="1" lang="ja-JP" altLang="en-US" dirty="0"/>
              <a:t> </a:t>
            </a:r>
            <a:r>
              <a:rPr kumimoji="1" lang="en-US" altLang="ja-JP" dirty="0"/>
              <a:t>Bold</a:t>
            </a:r>
            <a:r>
              <a:rPr kumimoji="1" lang="ja-JP" altLang="en-US" dirty="0"/>
              <a:t>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以上・行間</a:t>
            </a:r>
            <a:r>
              <a:rPr kumimoji="1" lang="en-US" altLang="ja-JP" dirty="0"/>
              <a:t>26pt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Gray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3"/>
            <a:endParaRPr kumimoji="1" lang="en-US" altLang="ja-JP" dirty="0"/>
          </a:p>
        </p:txBody>
      </p:sp>
      <p:sp>
        <p:nvSpPr>
          <p:cNvPr id="8" name="コンテンツ プレースホルダ 7"/>
          <p:cNvSpPr>
            <a:spLocks noGrp="1"/>
          </p:cNvSpPr>
          <p:nvPr>
            <p:ph sz="quarter" idx="12" hasCustomPrompt="1"/>
          </p:nvPr>
        </p:nvSpPr>
        <p:spPr>
          <a:xfrm>
            <a:off x="308484" y="1736812"/>
            <a:ext cx="9277200" cy="4572508"/>
          </a:xfrm>
        </p:spPr>
        <p:txBody>
          <a:bodyPr/>
          <a:lstStyle>
            <a:lvl1pPr>
              <a:lnSpc>
                <a:spcPts val="2400"/>
              </a:lnSpc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kumimoji="1" lang="ja-JP" altLang="en-US" dirty="0"/>
              <a:t>本文 フォント：和文 メイリオ </a:t>
            </a:r>
            <a:r>
              <a:rPr kumimoji="1" lang="en-US" altLang="ja-JP" dirty="0"/>
              <a:t>Regular</a:t>
            </a:r>
            <a:r>
              <a:rPr kumimoji="1" lang="ja-JP" altLang="en-US" dirty="0"/>
              <a:t>／英数字 </a:t>
            </a:r>
            <a:r>
              <a:rPr kumimoji="1" lang="en-US" altLang="ja-JP" dirty="0"/>
              <a:t>Verdana 14pt</a:t>
            </a:r>
            <a:r>
              <a:rPr kumimoji="1" lang="ja-JP" altLang="en-US" dirty="0"/>
              <a:t>以上・行間</a:t>
            </a:r>
            <a:r>
              <a:rPr kumimoji="1" lang="en-US" altLang="ja-JP" dirty="0"/>
              <a:t>24pt</a:t>
            </a:r>
            <a:r>
              <a:rPr kumimoji="1" lang="ja-JP" altLang="en-US" dirty="0" err="1"/>
              <a:t>、</a:t>
            </a:r>
            <a:r>
              <a:rPr kumimoji="1" lang="ja-JP" altLang="en-US" dirty="0"/>
              <a:t>カラー：</a:t>
            </a:r>
            <a:r>
              <a:rPr kumimoji="1" lang="en-US" altLang="ja-JP" dirty="0"/>
              <a:t>Gray or Black</a:t>
            </a:r>
            <a:r>
              <a:rPr kumimoji="1" lang="ja-JP" altLang="en-US" dirty="0"/>
              <a:t>　　　</a:t>
            </a:r>
            <a:r>
              <a:rPr kumimoji="1" lang="en-US" altLang="ja-JP" dirty="0"/>
              <a:t>※</a:t>
            </a:r>
            <a:r>
              <a:rPr kumimoji="1" lang="ja-JP" altLang="en-US" dirty="0"/>
              <a:t>明朝を用いる場合は、</a:t>
            </a:r>
            <a:r>
              <a:rPr kumimoji="1" lang="en-US" altLang="ja-JP" dirty="0"/>
              <a:t>MS</a:t>
            </a:r>
            <a:r>
              <a:rPr kumimoji="1" lang="ja-JP" altLang="en-US" dirty="0"/>
              <a:t> </a:t>
            </a:r>
            <a:r>
              <a:rPr kumimoji="1" lang="en-US" altLang="ja-JP" dirty="0"/>
              <a:t>P </a:t>
            </a:r>
            <a:r>
              <a:rPr kumimoji="1" lang="ja-JP" altLang="en-US" dirty="0"/>
              <a:t>明朝／</a:t>
            </a:r>
            <a:r>
              <a:rPr kumimoji="1" lang="en-US" altLang="ja-JP" dirty="0"/>
              <a:t>Georgia</a:t>
            </a:r>
            <a:r>
              <a:rPr kumimoji="1" lang="ja-JP" altLang="en-US" dirty="0"/>
              <a:t>を使用する</a:t>
            </a:r>
          </a:p>
        </p:txBody>
      </p:sp>
      <p:cxnSp>
        <p:nvCxnSpPr>
          <p:cNvPr id="11" name="直線コネクタ 10"/>
          <p:cNvCxnSpPr/>
          <p:nvPr userDrawn="1"/>
        </p:nvCxnSpPr>
        <p:spPr>
          <a:xfrm>
            <a:off x="320316" y="764704"/>
            <a:ext cx="92772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リードなし コンテンツ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4400" y="274638"/>
            <a:ext cx="9277200" cy="43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200" b="1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   </a:t>
            </a:r>
            <a:r>
              <a:rPr kumimoji="1" lang="ja-JP" altLang="en-US" dirty="0"/>
              <a:t>和文 メイリオ </a:t>
            </a:r>
            <a:r>
              <a:rPr kumimoji="1" lang="en-US" altLang="ja-JP" dirty="0"/>
              <a:t>Bold/</a:t>
            </a:r>
            <a:r>
              <a:rPr kumimoji="1" lang="ja-JP" altLang="en-US" dirty="0"/>
              <a:t>英数字 </a:t>
            </a:r>
            <a:r>
              <a:rPr kumimoji="1" lang="en-US" altLang="ja-JP" dirty="0"/>
              <a:t>Verdana Bold 22pt, Black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>
          <a:xfrm>
            <a:off x="9093200" y="6633356"/>
            <a:ext cx="812799" cy="224644"/>
          </a:xfrm>
        </p:spPr>
        <p:txBody>
          <a:bodyPr/>
          <a:lstStyle>
            <a:lvl1pPr>
              <a:defRPr sz="1000"/>
            </a:lvl1pPr>
          </a:lstStyle>
          <a:p>
            <a:fld id="{3913B849-B299-43F7-89E0-BDEEC7CFE23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320316" y="764704"/>
            <a:ext cx="92772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1" r:id="rId2"/>
    <p:sldLayoutId id="2147483697" r:id="rId3"/>
    <p:sldLayoutId id="2147483699" r:id="rId4"/>
  </p:sldLayoutIdLst>
  <p:hf hdr="0" ftr="0"/>
  <p:txStyles>
    <p:titleStyle>
      <a:lvl1pPr algn="ctr" defTabSz="914400" rtl="0" eaLnBrk="1" latinLnBrk="0" hangingPunct="1">
        <a:lnSpc>
          <a:spcPts val="4200"/>
        </a:lnSpc>
        <a:spcBef>
          <a:spcPct val="0"/>
        </a:spcBef>
        <a:buNone/>
        <a:defRPr kumimoji="1"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4000"/>
        </a:lnSpc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78C390AE-5129-4580-4BC7-A11741E7A6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01308"/>
            <a:ext cx="1573696" cy="452437"/>
          </a:xfrm>
          <a:prstGeom prst="rect">
            <a:avLst/>
          </a:prstGeom>
        </p:spPr>
      </p:pic>
      <p:sp>
        <p:nvSpPr>
          <p:cNvPr id="8" name="スライド番号プレースホルダ 5"/>
          <p:cNvSpPr txBox="1">
            <a:spLocks/>
          </p:cNvSpPr>
          <p:nvPr userDrawn="1"/>
        </p:nvSpPr>
        <p:spPr>
          <a:xfrm>
            <a:off x="1" y="6633356"/>
            <a:ext cx="9093200" cy="224644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1" lang="en-US" altLang="ja-JP" sz="7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TechnoPro, Inc. Consulting Partners Company. All Rights Reserved.</a:t>
            </a:r>
          </a:p>
        </p:txBody>
      </p:sp>
      <p:sp>
        <p:nvSpPr>
          <p:cNvPr id="9" name="スライド番号プレースホルダ 5"/>
          <p:cNvSpPr txBox="1">
            <a:spLocks/>
          </p:cNvSpPr>
          <p:nvPr userDrawn="1"/>
        </p:nvSpPr>
        <p:spPr>
          <a:xfrm>
            <a:off x="9093200" y="6633356"/>
            <a:ext cx="812800" cy="22464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52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908720"/>
            <a:ext cx="8915400" cy="90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9093200" y="6633356"/>
            <a:ext cx="812799" cy="224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C1F5F81B-DE36-42D3-89DE-0645D30A867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5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TALON × WFS</a:t>
            </a:r>
            <a:r>
              <a:rPr lang="ja-JP" altLang="en-US" dirty="0"/>
              <a:t>システムメンテ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97016" y="3753036"/>
            <a:ext cx="5256084" cy="1296144"/>
          </a:xfrm>
        </p:spPr>
        <p:txBody>
          <a:bodyPr/>
          <a:lstStyle/>
          <a:p>
            <a:r>
              <a:rPr lang="en-US" altLang="ja-JP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</a:t>
            </a:r>
            <a:r>
              <a:rPr lang="en-US" altLang="ja-JP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ja-JP" b="1" dirty="0" err="1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運用フロ</a:t>
            </a:r>
            <a:r>
              <a:rPr lang="en-US" altLang="ja-JP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ー</a:t>
            </a:r>
          </a:p>
          <a:p>
            <a:r>
              <a:rPr lang="en-US" altLang="ja-JP" dirty="0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 </a:t>
            </a:r>
            <a:r>
              <a:rPr lang="en-US" altLang="ja-JP" dirty="0" err="1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人事異動の事前登録から自動反映まで</a:t>
            </a:r>
            <a:r>
              <a:rPr lang="en-US" altLang="ja-JP" dirty="0">
                <a:solidFill>
                  <a:srgbClr val="A0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〜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000" dirty="0">
                <a:latin typeface="Arial Black" pitchFamily="34" charset="0"/>
              </a:rPr>
              <a:t>WFS</a:t>
            </a:r>
            <a:r>
              <a:rPr lang="ja-JP" altLang="en-US" sz="2000" dirty="0">
                <a:latin typeface="Arial Black" pitchFamily="34" charset="0"/>
              </a:rPr>
              <a:t>のメンテナンスの複雑性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3B849-B299-43F7-89E0-BDEEC7CFE234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25096FD1-1F1E-8E27-8A0B-DEA1E06C59DD}"/>
              </a:ext>
            </a:extLst>
          </p:cNvPr>
          <p:cNvSpPr/>
          <p:nvPr/>
        </p:nvSpPr>
        <p:spPr>
          <a:xfrm>
            <a:off x="655320" y="1205268"/>
            <a:ext cx="859536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FC250D0-3759-E28E-4185-E0B4BBAF04BD}"/>
              </a:ext>
            </a:extLst>
          </p:cNvPr>
          <p:cNvSpPr/>
          <p:nvPr/>
        </p:nvSpPr>
        <p:spPr>
          <a:xfrm>
            <a:off x="792480" y="122355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既存WFSテーブルの限界</a:t>
            </a:r>
            <a:endParaRPr lang="en-US" sz="13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860B9FE-4908-A29B-4D04-4A254589F89B}"/>
              </a:ext>
            </a:extLst>
          </p:cNvPr>
          <p:cNvSpPr/>
          <p:nvPr/>
        </p:nvSpPr>
        <p:spPr>
          <a:xfrm>
            <a:off x="655320" y="1635036"/>
            <a:ext cx="859536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68DB5C0-27F3-32EC-E827-17800F5226FC}"/>
              </a:ext>
            </a:extLst>
          </p:cNvPr>
          <p:cNvSpPr/>
          <p:nvPr/>
        </p:nvSpPr>
        <p:spPr>
          <a:xfrm>
            <a:off x="655320" y="1635036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43D059C-ED8D-C274-9A17-3790BFBDAD0E}"/>
              </a:ext>
            </a:extLst>
          </p:cNvPr>
          <p:cNvSpPr/>
          <p:nvPr/>
        </p:nvSpPr>
        <p:spPr>
          <a:xfrm>
            <a:off x="819912" y="16624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WFS_M_USR_GRP_DTL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63788AE-F2FC-CF89-D070-179C70F949E6}"/>
              </a:ext>
            </a:extLst>
          </p:cNvPr>
          <p:cNvSpPr/>
          <p:nvPr/>
        </p:nvSpPr>
        <p:spPr>
          <a:xfrm>
            <a:off x="819912" y="19093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「現在有効な構成」しか持てない。有効開始日の概念がない。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663321C-B1A5-D6AA-8C74-416B391E80BF}"/>
              </a:ext>
            </a:extLst>
          </p:cNvPr>
          <p:cNvSpPr/>
          <p:nvPr/>
        </p:nvSpPr>
        <p:spPr>
          <a:xfrm>
            <a:off x="655320" y="229340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B9C6397-3B88-498B-32BF-73BDB5F1BF84}"/>
              </a:ext>
            </a:extLst>
          </p:cNvPr>
          <p:cNvSpPr/>
          <p:nvPr/>
        </p:nvSpPr>
        <p:spPr>
          <a:xfrm>
            <a:off x="655320" y="2293404"/>
            <a:ext cx="7315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15C4452-F974-555A-ADBB-8E3A67D26B5A}"/>
              </a:ext>
            </a:extLst>
          </p:cNvPr>
          <p:cNvSpPr/>
          <p:nvPr/>
        </p:nvSpPr>
        <p:spPr>
          <a:xfrm>
            <a:off x="819912" y="23208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WFS_M_USR_GRP_DEPDTL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6FAF63B-84D1-212A-5110-08D8796EF88E}"/>
              </a:ext>
            </a:extLst>
          </p:cNvPr>
          <p:cNvSpPr/>
          <p:nvPr/>
        </p:nvSpPr>
        <p:spPr>
          <a:xfrm>
            <a:off x="819912" y="25677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DTLを展開した結果。予約状態は表現できない。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1BD4385-3865-0371-498B-45790193DFC2}"/>
              </a:ext>
            </a:extLst>
          </p:cNvPr>
          <p:cNvSpPr/>
          <p:nvPr/>
        </p:nvSpPr>
        <p:spPr>
          <a:xfrm>
            <a:off x="4495800" y="29792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2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BBC5FA6-EC24-A8AA-1A61-6D16FF500F98}"/>
              </a:ext>
            </a:extLst>
          </p:cNvPr>
          <p:cNvSpPr/>
          <p:nvPr/>
        </p:nvSpPr>
        <p:spPr>
          <a:xfrm>
            <a:off x="4953000" y="2979204"/>
            <a:ext cx="0" cy="27432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DA3A24B-59B6-F7A8-3D98-F5526D787346}"/>
              </a:ext>
            </a:extLst>
          </p:cNvPr>
          <p:cNvSpPr/>
          <p:nvPr/>
        </p:nvSpPr>
        <p:spPr>
          <a:xfrm>
            <a:off x="4696968" y="31895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20EB86A-5C2E-6E44-2111-891D2355B51C}"/>
              </a:ext>
            </a:extLst>
          </p:cNvPr>
          <p:cNvSpPr/>
          <p:nvPr/>
        </p:nvSpPr>
        <p:spPr>
          <a:xfrm>
            <a:off x="655320" y="3436404"/>
            <a:ext cx="8595360" cy="169164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C83D94D-A400-4946-D440-D4759C1B4D13}"/>
              </a:ext>
            </a:extLst>
          </p:cNvPr>
          <p:cNvSpPr/>
          <p:nvPr/>
        </p:nvSpPr>
        <p:spPr>
          <a:xfrm>
            <a:off x="655320" y="3436404"/>
            <a:ext cx="8595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0CF4FEC-F313-CD2E-85E7-6A79594376FD}"/>
              </a:ext>
            </a:extLst>
          </p:cNvPr>
          <p:cNvSpPr/>
          <p:nvPr/>
        </p:nvSpPr>
        <p:spPr>
          <a:xfrm>
            <a:off x="792480" y="34546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WFS_CHANGE_RESERVE（変更予約テーブル）を新設する</a:t>
            </a:r>
            <a:endParaRPr lang="en-US" sz="13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A534C3D-DB50-F2E5-84BA-5A8FC61378F2}"/>
              </a:ext>
            </a:extLst>
          </p:cNvPr>
          <p:cNvSpPr/>
          <p:nvPr/>
        </p:nvSpPr>
        <p:spPr>
          <a:xfrm>
            <a:off x="79248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F959437-1C8C-6176-9E9A-280C72582B89}"/>
              </a:ext>
            </a:extLst>
          </p:cNvPr>
          <p:cNvSpPr/>
          <p:nvPr/>
        </p:nvSpPr>
        <p:spPr>
          <a:xfrm>
            <a:off x="83820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</a:t>
            </a:r>
            <a:endParaRPr lang="en-US" sz="9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A1BCBAC-1EAA-7DD6-258F-3B594A32E1E5}"/>
              </a:ext>
            </a:extLst>
          </p:cNvPr>
          <p:cNvSpPr/>
          <p:nvPr/>
        </p:nvSpPr>
        <p:spPr>
          <a:xfrm>
            <a:off x="83820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対象グループ</a:t>
            </a:r>
            <a:endParaRPr lang="en-US" sz="10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414B53C-C37B-E1CB-1928-EC762528539B}"/>
              </a:ext>
            </a:extLst>
          </p:cNvPr>
          <p:cNvSpPr/>
          <p:nvPr/>
        </p:nvSpPr>
        <p:spPr>
          <a:xfrm>
            <a:off x="248412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E9AB565-F33F-5FBC-8C2A-0A5068E49CE1}"/>
              </a:ext>
            </a:extLst>
          </p:cNvPr>
          <p:cNvSpPr/>
          <p:nvPr/>
        </p:nvSpPr>
        <p:spPr>
          <a:xfrm>
            <a:off x="252984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9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A98255D-6D0E-47A0-029D-AA4B07277569}"/>
              </a:ext>
            </a:extLst>
          </p:cNvPr>
          <p:cNvSpPr/>
          <p:nvPr/>
        </p:nvSpPr>
        <p:spPr>
          <a:xfrm>
            <a:off x="252984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対象ユーザー</a:t>
            </a:r>
            <a:endParaRPr lang="en-US" sz="10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9757C31-209E-92CB-FCC2-19D64BA4162F}"/>
              </a:ext>
            </a:extLst>
          </p:cNvPr>
          <p:cNvSpPr/>
          <p:nvPr/>
        </p:nvSpPr>
        <p:spPr>
          <a:xfrm>
            <a:off x="417576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742989A-68F4-4F6A-26D1-B212006A492A}"/>
              </a:ext>
            </a:extLst>
          </p:cNvPr>
          <p:cNvSpPr/>
          <p:nvPr/>
        </p:nvSpPr>
        <p:spPr>
          <a:xfrm>
            <a:off x="422148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CHANGE_TYPE</a:t>
            </a:r>
            <a:endParaRPr lang="en-US" sz="9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94AEDB0E-00B7-82B4-F690-094AAF31A943}"/>
              </a:ext>
            </a:extLst>
          </p:cNvPr>
          <p:cNvSpPr/>
          <p:nvPr/>
        </p:nvSpPr>
        <p:spPr>
          <a:xfrm>
            <a:off x="422148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A=追加 D=削除</a:t>
            </a:r>
            <a:endParaRPr lang="en-US" sz="10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203B99F-021B-044A-07DC-09C8F2B5D8D9}"/>
              </a:ext>
            </a:extLst>
          </p:cNvPr>
          <p:cNvSpPr/>
          <p:nvPr/>
        </p:nvSpPr>
        <p:spPr>
          <a:xfrm>
            <a:off x="586740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DFC66F4-48DD-77A6-FF01-6B41B38C8889}"/>
              </a:ext>
            </a:extLst>
          </p:cNvPr>
          <p:cNvSpPr/>
          <p:nvPr/>
        </p:nvSpPr>
        <p:spPr>
          <a:xfrm>
            <a:off x="591312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VALID_FROM</a:t>
            </a:r>
            <a:endParaRPr lang="en-US" sz="9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D7DDC3E-8B00-0C67-3302-B336F97AB18E}"/>
              </a:ext>
            </a:extLst>
          </p:cNvPr>
          <p:cNvSpPr/>
          <p:nvPr/>
        </p:nvSpPr>
        <p:spPr>
          <a:xfrm>
            <a:off x="591312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</a:t>
            </a:r>
            <a:endParaRPr lang="en-US" sz="10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2A910F35-F11A-2D2B-5735-BF3229B03BD9}"/>
              </a:ext>
            </a:extLst>
          </p:cNvPr>
          <p:cNvSpPr/>
          <p:nvPr/>
        </p:nvSpPr>
        <p:spPr>
          <a:xfrm>
            <a:off x="7559040" y="3893604"/>
            <a:ext cx="1554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8AE718D-2223-9F0A-EE20-673F2288DFED}"/>
              </a:ext>
            </a:extLst>
          </p:cNvPr>
          <p:cNvSpPr/>
          <p:nvPr/>
        </p:nvSpPr>
        <p:spPr>
          <a:xfrm>
            <a:off x="7604760" y="39484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3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APPLIED_FLG</a:t>
            </a:r>
            <a:endParaRPr lang="en-US" sz="95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B871644-9426-E4C6-F4ED-EEABAB0CB6DD}"/>
              </a:ext>
            </a:extLst>
          </p:cNvPr>
          <p:cNvSpPr/>
          <p:nvPr/>
        </p:nvSpPr>
        <p:spPr>
          <a:xfrm>
            <a:off x="7604760" y="43782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0=未適用 1=完了</a:t>
            </a:r>
            <a:endParaRPr lang="en-US" sz="1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D1AE3E40-A088-0BE3-C275-B6EB8650621B}"/>
              </a:ext>
            </a:extLst>
          </p:cNvPr>
          <p:cNvSpPr/>
          <p:nvPr/>
        </p:nvSpPr>
        <p:spPr>
          <a:xfrm>
            <a:off x="655320" y="52652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これがWFSで新規テーブルを作ることが正当化される唯一のケース（既存DTLとは役割が異なる）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運用フロー全体像</a:t>
            </a:r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5F81B-DE36-42D3-89DE-0645D30A867D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95FD904-9E87-8575-CEB3-A070D992AAB6}"/>
              </a:ext>
            </a:extLst>
          </p:cNvPr>
          <p:cNvSpPr/>
          <p:nvPr/>
        </p:nvSpPr>
        <p:spPr>
          <a:xfrm>
            <a:off x="668524" y="1160748"/>
            <a:ext cx="256032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A4D7AAC-3668-95BB-7FAC-A41E041C2C44}"/>
              </a:ext>
            </a:extLst>
          </p:cNvPr>
          <p:cNvSpPr/>
          <p:nvPr/>
        </p:nvSpPr>
        <p:spPr>
          <a:xfrm>
            <a:off x="668524" y="1160748"/>
            <a:ext cx="256032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D58D596-5347-6724-B61B-2622DBFE1FF9}"/>
              </a:ext>
            </a:extLst>
          </p:cNvPr>
          <p:cNvSpPr/>
          <p:nvPr/>
        </p:nvSpPr>
        <p:spPr>
          <a:xfrm>
            <a:off x="668524" y="11607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予約登録</a:t>
            </a:r>
            <a:endParaRPr lang="en-US" sz="13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B3AFF05F-9146-6FB1-4F8B-D37CFF9162C6}"/>
              </a:ext>
            </a:extLst>
          </p:cNvPr>
          <p:cNvSpPr/>
          <p:nvPr/>
        </p:nvSpPr>
        <p:spPr>
          <a:xfrm>
            <a:off x="778252" y="1654524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07F4D55-C071-5512-F403-BD854F450553}"/>
              </a:ext>
            </a:extLst>
          </p:cNvPr>
          <p:cNvSpPr/>
          <p:nvPr/>
        </p:nvSpPr>
        <p:spPr>
          <a:xfrm>
            <a:off x="778252" y="1654524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6595254-4CAA-EBE1-5658-BBE821D876A5}"/>
              </a:ext>
            </a:extLst>
          </p:cNvPr>
          <p:cNvSpPr/>
          <p:nvPr/>
        </p:nvSpPr>
        <p:spPr>
          <a:xfrm>
            <a:off x="778252" y="16545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AFAA542-ACC6-E6F2-5231-C909E43D3205}"/>
              </a:ext>
            </a:extLst>
          </p:cNvPr>
          <p:cNvSpPr/>
          <p:nvPr/>
        </p:nvSpPr>
        <p:spPr>
          <a:xfrm>
            <a:off x="1052572" y="170024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人事異動情報を受領</a:t>
            </a:r>
            <a:endParaRPr lang="en-US" sz="1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6FF75F39-8185-EEF7-E397-FB8B1FFFF3F4}"/>
              </a:ext>
            </a:extLst>
          </p:cNvPr>
          <p:cNvSpPr/>
          <p:nvPr/>
        </p:nvSpPr>
        <p:spPr>
          <a:xfrm>
            <a:off x="778252" y="2349468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31B711B-2871-B618-CB0A-F69EAC111DA2}"/>
              </a:ext>
            </a:extLst>
          </p:cNvPr>
          <p:cNvSpPr/>
          <p:nvPr/>
        </p:nvSpPr>
        <p:spPr>
          <a:xfrm>
            <a:off x="778252" y="2349468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989717F-95F8-F104-AD31-6B04D004AC40}"/>
              </a:ext>
            </a:extLst>
          </p:cNvPr>
          <p:cNvSpPr/>
          <p:nvPr/>
        </p:nvSpPr>
        <p:spPr>
          <a:xfrm>
            <a:off x="778252" y="23494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823F09D-B302-58A9-4A40-6FAC17CFD1AD}"/>
              </a:ext>
            </a:extLst>
          </p:cNvPr>
          <p:cNvSpPr/>
          <p:nvPr/>
        </p:nvSpPr>
        <p:spPr>
          <a:xfrm>
            <a:off x="1052572" y="23951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変更予約画面を開く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47DC3891-7414-6784-D986-582834F1F444}"/>
              </a:ext>
            </a:extLst>
          </p:cNvPr>
          <p:cNvSpPr/>
          <p:nvPr/>
        </p:nvSpPr>
        <p:spPr>
          <a:xfrm>
            <a:off x="778252" y="3044412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04344DE9-892C-C56D-6743-44C6FEAFB907}"/>
              </a:ext>
            </a:extLst>
          </p:cNvPr>
          <p:cNvSpPr/>
          <p:nvPr/>
        </p:nvSpPr>
        <p:spPr>
          <a:xfrm>
            <a:off x="778252" y="3044412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B7F9DF2-C6DF-ED5E-CB5B-9DAE0B8895F4}"/>
              </a:ext>
            </a:extLst>
          </p:cNvPr>
          <p:cNvSpPr/>
          <p:nvPr/>
        </p:nvSpPr>
        <p:spPr>
          <a:xfrm>
            <a:off x="778252" y="30444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2446283-F570-7666-545E-6278F517625E}"/>
              </a:ext>
            </a:extLst>
          </p:cNvPr>
          <p:cNvSpPr/>
          <p:nvPr/>
        </p:nvSpPr>
        <p:spPr>
          <a:xfrm>
            <a:off x="1052572" y="30901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対象グループ・ユーザー・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変更種別・有効開始日を入力</a:t>
            </a:r>
            <a:endParaRPr lang="en-US" sz="10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21089D41-9402-C15F-09A7-6765832E7EEF}"/>
              </a:ext>
            </a:extLst>
          </p:cNvPr>
          <p:cNvSpPr/>
          <p:nvPr/>
        </p:nvSpPr>
        <p:spPr>
          <a:xfrm>
            <a:off x="778252" y="3739356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BBD26F71-CA57-9E5D-A2AE-F7E2E92E29AC}"/>
              </a:ext>
            </a:extLst>
          </p:cNvPr>
          <p:cNvSpPr/>
          <p:nvPr/>
        </p:nvSpPr>
        <p:spPr>
          <a:xfrm>
            <a:off x="778252" y="3739356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34FA58F3-0F4D-81C4-721B-A9BB08481BED}"/>
              </a:ext>
            </a:extLst>
          </p:cNvPr>
          <p:cNvSpPr/>
          <p:nvPr/>
        </p:nvSpPr>
        <p:spPr>
          <a:xfrm>
            <a:off x="778252" y="37393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65599C1-7C03-6FA5-23EE-79F8E23C84D4}"/>
              </a:ext>
            </a:extLst>
          </p:cNvPr>
          <p:cNvSpPr/>
          <p:nvPr/>
        </p:nvSpPr>
        <p:spPr>
          <a:xfrm>
            <a:off x="1052572" y="37850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確定→WFS_CHANGE_RESERVE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にINSERT</a:t>
            </a:r>
            <a:endParaRPr lang="en-US" sz="10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EE9AB0B2-BD69-DFEC-D4AC-BCC7BCDDCC0E}"/>
              </a:ext>
            </a:extLst>
          </p:cNvPr>
          <p:cNvSpPr/>
          <p:nvPr/>
        </p:nvSpPr>
        <p:spPr>
          <a:xfrm>
            <a:off x="778252" y="4434300"/>
            <a:ext cx="2331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FEB6383-9A31-34CA-8010-C66A919C2727}"/>
              </a:ext>
            </a:extLst>
          </p:cNvPr>
          <p:cNvSpPr/>
          <p:nvPr/>
        </p:nvSpPr>
        <p:spPr>
          <a:xfrm>
            <a:off x="778252" y="4434300"/>
            <a:ext cx="237744" cy="237744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D3504324-4CB4-4CE3-2E22-21D64558C07B}"/>
              </a:ext>
            </a:extLst>
          </p:cNvPr>
          <p:cNvSpPr/>
          <p:nvPr/>
        </p:nvSpPr>
        <p:spPr>
          <a:xfrm>
            <a:off x="778252" y="44343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07327056-6DA4-07B5-9E7E-6C22E0B2BA84}"/>
              </a:ext>
            </a:extLst>
          </p:cNvPr>
          <p:cNvSpPr/>
          <p:nvPr/>
        </p:nvSpPr>
        <p:spPr>
          <a:xfrm>
            <a:off x="1052572" y="44800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予約一覧で内容確認</a:t>
            </a:r>
            <a:endParaRPr lang="en-US" sz="10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5E46AFB1-62F6-36E5-DDF5-D62981931195}"/>
              </a:ext>
            </a:extLst>
          </p:cNvPr>
          <p:cNvSpPr/>
          <p:nvPr/>
        </p:nvSpPr>
        <p:spPr>
          <a:xfrm>
            <a:off x="3247132" y="3355308"/>
            <a:ext cx="384048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1094AC4-F607-8D54-A835-2229C941942F}"/>
              </a:ext>
            </a:extLst>
          </p:cNvPr>
          <p:cNvSpPr/>
          <p:nvPr/>
        </p:nvSpPr>
        <p:spPr>
          <a:xfrm>
            <a:off x="3503164" y="32364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30A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6E0D9FE0-D256-9734-0EC5-0ECBC365FA9D}"/>
              </a:ext>
            </a:extLst>
          </p:cNvPr>
          <p:cNvSpPr/>
          <p:nvPr/>
        </p:nvSpPr>
        <p:spPr>
          <a:xfrm>
            <a:off x="3640324" y="1160748"/>
            <a:ext cx="256032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F20C0797-8FE6-AF33-9323-A556AC85EB39}"/>
              </a:ext>
            </a:extLst>
          </p:cNvPr>
          <p:cNvSpPr/>
          <p:nvPr/>
        </p:nvSpPr>
        <p:spPr>
          <a:xfrm>
            <a:off x="3640324" y="1160748"/>
            <a:ext cx="2560320" cy="384048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17EF0437-C90C-0C08-C982-C7937277468C}"/>
              </a:ext>
            </a:extLst>
          </p:cNvPr>
          <p:cNvSpPr/>
          <p:nvPr/>
        </p:nvSpPr>
        <p:spPr>
          <a:xfrm>
            <a:off x="3640324" y="11607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有効日まで待機</a:t>
            </a:r>
            <a:endParaRPr lang="en-US" sz="1300" dirty="0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8C159D96-C097-23DB-68A1-92133A82C193}"/>
              </a:ext>
            </a:extLst>
          </p:cNvPr>
          <p:cNvSpPr/>
          <p:nvPr/>
        </p:nvSpPr>
        <p:spPr>
          <a:xfrm>
            <a:off x="3750052" y="1654524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B619B173-36F8-8939-2F82-D1C007E3EBB5}"/>
              </a:ext>
            </a:extLst>
          </p:cNvPr>
          <p:cNvSpPr/>
          <p:nvPr/>
        </p:nvSpPr>
        <p:spPr>
          <a:xfrm>
            <a:off x="3795772" y="17093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予約取消（任意）</a:t>
            </a:r>
            <a:endParaRPr lang="en-US" sz="110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3EA9E165-1A86-9F51-9DED-3F240376C787}"/>
              </a:ext>
            </a:extLst>
          </p:cNvPr>
          <p:cNvSpPr/>
          <p:nvPr/>
        </p:nvSpPr>
        <p:spPr>
          <a:xfrm>
            <a:off x="3795772" y="20751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有効開始日前であれば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APPLIED_FLG=9で取消可</a:t>
            </a:r>
            <a:endParaRPr lang="en-US" sz="100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1D37DBF3-E983-4501-59D6-67C26350A436}"/>
              </a:ext>
            </a:extLst>
          </p:cNvPr>
          <p:cNvSpPr/>
          <p:nvPr/>
        </p:nvSpPr>
        <p:spPr>
          <a:xfrm>
            <a:off x="3750052" y="2916396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6EE6A42F-CFFE-29AF-5EEF-E6251F6FD297}"/>
              </a:ext>
            </a:extLst>
          </p:cNvPr>
          <p:cNvSpPr/>
          <p:nvPr/>
        </p:nvSpPr>
        <p:spPr>
          <a:xfrm>
            <a:off x="3795772" y="29712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予約確認（任意）</a:t>
            </a:r>
            <a:endParaRPr lang="en-US" sz="1100" dirty="0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7C38ECAD-7EEA-6842-932D-DEE9C54C759D}"/>
              </a:ext>
            </a:extLst>
          </p:cNvPr>
          <p:cNvSpPr/>
          <p:nvPr/>
        </p:nvSpPr>
        <p:spPr>
          <a:xfrm>
            <a:off x="3795772" y="33370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予約一覧画面で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未適用の予約を確認</a:t>
            </a:r>
            <a:endParaRPr lang="en-US" sz="1000" dirty="0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B68AD2B0-56DF-99E1-94D1-F5202B2B1771}"/>
              </a:ext>
            </a:extLst>
          </p:cNvPr>
          <p:cNvSpPr/>
          <p:nvPr/>
        </p:nvSpPr>
        <p:spPr>
          <a:xfrm>
            <a:off x="3750052" y="4178268"/>
            <a:ext cx="2331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4A0B3791-D8A6-0520-07F1-F2ACC5AA9F9F}"/>
              </a:ext>
            </a:extLst>
          </p:cNvPr>
          <p:cNvSpPr/>
          <p:nvPr/>
        </p:nvSpPr>
        <p:spPr>
          <a:xfrm>
            <a:off x="3795772" y="42331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変更不可ゾーン</a:t>
            </a:r>
            <a:endParaRPr lang="en-US" sz="110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D99FC0E0-01FB-EC30-7D68-6D5EE22CD838}"/>
              </a:ext>
            </a:extLst>
          </p:cNvPr>
          <p:cNvSpPr/>
          <p:nvPr/>
        </p:nvSpPr>
        <p:spPr>
          <a:xfrm>
            <a:off x="3795772" y="45988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取消操作をブロック</a:t>
            </a:r>
            <a:endParaRPr lang="en-US" sz="100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A7B8272C-47CF-736F-AF7B-073C878DD34F}"/>
              </a:ext>
            </a:extLst>
          </p:cNvPr>
          <p:cNvSpPr/>
          <p:nvPr/>
        </p:nvSpPr>
        <p:spPr>
          <a:xfrm>
            <a:off x="6218932" y="3355308"/>
            <a:ext cx="384048" cy="0"/>
          </a:xfrm>
          <a:prstGeom prst="line">
            <a:avLst/>
          </a:prstGeom>
          <a:noFill/>
          <a:ln w="317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E1B9C7C6-0EF7-56FA-2D07-A10908E8112D}"/>
              </a:ext>
            </a:extLst>
          </p:cNvPr>
          <p:cNvSpPr/>
          <p:nvPr/>
        </p:nvSpPr>
        <p:spPr>
          <a:xfrm>
            <a:off x="6474964" y="32364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30A"/>
                </a:solidFill>
              </a:rPr>
              <a:t>▶</a:t>
            </a:r>
            <a:endParaRPr lang="en-US" sz="1200" dirty="0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69F278F-2ED1-1EA2-5F75-EEC1E732DF62}"/>
              </a:ext>
            </a:extLst>
          </p:cNvPr>
          <p:cNvSpPr/>
          <p:nvPr/>
        </p:nvSpPr>
        <p:spPr>
          <a:xfrm>
            <a:off x="6612124" y="1160748"/>
            <a:ext cx="2606040" cy="4389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A0BA6533-A428-86AE-B2D7-77FA69455AF1}"/>
              </a:ext>
            </a:extLst>
          </p:cNvPr>
          <p:cNvSpPr/>
          <p:nvPr/>
        </p:nvSpPr>
        <p:spPr>
          <a:xfrm>
            <a:off x="6612124" y="1160748"/>
            <a:ext cx="26060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911F9DBB-3EEB-9062-3536-2921F0A4CD6A}"/>
              </a:ext>
            </a:extLst>
          </p:cNvPr>
          <p:cNvSpPr/>
          <p:nvPr/>
        </p:nvSpPr>
        <p:spPr>
          <a:xfrm>
            <a:off x="6612124" y="11607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日次バッチ自動適用</a:t>
            </a:r>
            <a:endParaRPr lang="en-US" sz="1200" dirty="0"/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70B2B18B-0393-82FD-7933-6816505A6931}"/>
              </a:ext>
            </a:extLst>
          </p:cNvPr>
          <p:cNvSpPr/>
          <p:nvPr/>
        </p:nvSpPr>
        <p:spPr>
          <a:xfrm>
            <a:off x="6721852" y="1654524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801A8BAF-8D2D-0AC1-30B4-23D95E019B54}"/>
              </a:ext>
            </a:extLst>
          </p:cNvPr>
          <p:cNvSpPr/>
          <p:nvPr/>
        </p:nvSpPr>
        <p:spPr>
          <a:xfrm>
            <a:off x="6721852" y="1654524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1D601F05-C268-7B5D-8AF0-57A9188FCE11}"/>
              </a:ext>
            </a:extLst>
          </p:cNvPr>
          <p:cNvSpPr/>
          <p:nvPr/>
        </p:nvSpPr>
        <p:spPr>
          <a:xfrm>
            <a:off x="6721852" y="16545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9D300AA7-2137-7341-57D1-1711AF5161DB}"/>
              </a:ext>
            </a:extLst>
          </p:cNvPr>
          <p:cNvSpPr/>
          <p:nvPr/>
        </p:nvSpPr>
        <p:spPr>
          <a:xfrm>
            <a:off x="6996172" y="17002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毎朝バッチ起動</a:t>
            </a:r>
            <a:endParaRPr lang="en-US" sz="950" dirty="0"/>
          </a:p>
        </p:txBody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B665A49F-1034-93B3-CC0D-26CABAA6F1AE}"/>
              </a:ext>
            </a:extLst>
          </p:cNvPr>
          <p:cNvSpPr/>
          <p:nvPr/>
        </p:nvSpPr>
        <p:spPr>
          <a:xfrm>
            <a:off x="6721852" y="2349468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034AC40A-F35B-691E-0929-C27A43BCA60F}"/>
              </a:ext>
            </a:extLst>
          </p:cNvPr>
          <p:cNvSpPr/>
          <p:nvPr/>
        </p:nvSpPr>
        <p:spPr>
          <a:xfrm>
            <a:off x="6721852" y="2349468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2A3C9387-9218-D6BA-819B-48476948DA67}"/>
              </a:ext>
            </a:extLst>
          </p:cNvPr>
          <p:cNvSpPr/>
          <p:nvPr/>
        </p:nvSpPr>
        <p:spPr>
          <a:xfrm>
            <a:off x="6721852" y="23494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71F2EEE8-BE15-B9E7-9EA4-4A56F39D73D0}"/>
              </a:ext>
            </a:extLst>
          </p:cNvPr>
          <p:cNvSpPr/>
          <p:nvPr/>
        </p:nvSpPr>
        <p:spPr>
          <a:xfrm>
            <a:off x="6996172" y="23951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VALID_FROM&lt;=本日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APPLIED_FLG='0' を抽出</a:t>
            </a:r>
            <a:endParaRPr lang="en-US" sz="950" dirty="0"/>
          </a:p>
        </p:txBody>
      </p:sp>
      <p:sp>
        <p:nvSpPr>
          <p:cNvPr id="54" name="Shape 53">
            <a:extLst>
              <a:ext uri="{FF2B5EF4-FFF2-40B4-BE49-F238E27FC236}">
                <a16:creationId xmlns:a16="http://schemas.microsoft.com/office/drawing/2014/main" id="{6A248C21-4747-FC24-3580-97F4F037509E}"/>
              </a:ext>
            </a:extLst>
          </p:cNvPr>
          <p:cNvSpPr/>
          <p:nvPr/>
        </p:nvSpPr>
        <p:spPr>
          <a:xfrm>
            <a:off x="6721852" y="3044412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4">
            <a:extLst>
              <a:ext uri="{FF2B5EF4-FFF2-40B4-BE49-F238E27FC236}">
                <a16:creationId xmlns:a16="http://schemas.microsoft.com/office/drawing/2014/main" id="{52F61426-B4D6-F4F3-3593-15DD217B9EA0}"/>
              </a:ext>
            </a:extLst>
          </p:cNvPr>
          <p:cNvSpPr/>
          <p:nvPr/>
        </p:nvSpPr>
        <p:spPr>
          <a:xfrm>
            <a:off x="6721852" y="3044412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8FDFC2B6-307A-9470-6DD4-E47C9E85CB0C}"/>
              </a:ext>
            </a:extLst>
          </p:cNvPr>
          <p:cNvSpPr/>
          <p:nvPr/>
        </p:nvSpPr>
        <p:spPr>
          <a:xfrm>
            <a:off x="6721852" y="30444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A967B0CE-CA4D-FCAD-0656-F17ECFB4117B}"/>
              </a:ext>
            </a:extLst>
          </p:cNvPr>
          <p:cNvSpPr/>
          <p:nvPr/>
        </p:nvSpPr>
        <p:spPr>
          <a:xfrm>
            <a:off x="6996172" y="30901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CHANGE_TYPE=A→DTLにINSERT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CHANGE_TYPE=D→DTLからDELETE</a:t>
            </a:r>
            <a:endParaRPr lang="en-US" sz="950" dirty="0"/>
          </a:p>
        </p:txBody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C48A6834-5B4E-9F26-60E6-7319D002A735}"/>
              </a:ext>
            </a:extLst>
          </p:cNvPr>
          <p:cNvSpPr/>
          <p:nvPr/>
        </p:nvSpPr>
        <p:spPr>
          <a:xfrm>
            <a:off x="6721852" y="3739356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8">
            <a:extLst>
              <a:ext uri="{FF2B5EF4-FFF2-40B4-BE49-F238E27FC236}">
                <a16:creationId xmlns:a16="http://schemas.microsoft.com/office/drawing/2014/main" id="{D679779B-AC5E-FD17-0BF7-3ADC71B1CD92}"/>
              </a:ext>
            </a:extLst>
          </p:cNvPr>
          <p:cNvSpPr/>
          <p:nvPr/>
        </p:nvSpPr>
        <p:spPr>
          <a:xfrm>
            <a:off x="6721852" y="3739356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9">
            <a:extLst>
              <a:ext uri="{FF2B5EF4-FFF2-40B4-BE49-F238E27FC236}">
                <a16:creationId xmlns:a16="http://schemas.microsoft.com/office/drawing/2014/main" id="{5FD4273F-D24B-8ECD-CA91-9EA64D67D062}"/>
              </a:ext>
            </a:extLst>
          </p:cNvPr>
          <p:cNvSpPr/>
          <p:nvPr/>
        </p:nvSpPr>
        <p:spPr>
          <a:xfrm>
            <a:off x="6721852" y="37393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60">
            <a:extLst>
              <a:ext uri="{FF2B5EF4-FFF2-40B4-BE49-F238E27FC236}">
                <a16:creationId xmlns:a16="http://schemas.microsoft.com/office/drawing/2014/main" id="{EFEA9E73-3A19-EFE9-AE57-F4C98CABECC9}"/>
              </a:ext>
            </a:extLst>
          </p:cNvPr>
          <p:cNvSpPr/>
          <p:nvPr/>
        </p:nvSpPr>
        <p:spPr>
          <a:xfrm>
            <a:off x="6996172" y="37850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DEPDTL を再展開</a:t>
            </a:r>
            <a:endParaRPr lang="en-US" sz="950" dirty="0"/>
          </a:p>
        </p:txBody>
      </p:sp>
      <p:sp>
        <p:nvSpPr>
          <p:cNvPr id="62" name="Shape 61">
            <a:extLst>
              <a:ext uri="{FF2B5EF4-FFF2-40B4-BE49-F238E27FC236}">
                <a16:creationId xmlns:a16="http://schemas.microsoft.com/office/drawing/2014/main" id="{9401CE2B-2F1C-68CC-A971-4ABF2796BC80}"/>
              </a:ext>
            </a:extLst>
          </p:cNvPr>
          <p:cNvSpPr/>
          <p:nvPr/>
        </p:nvSpPr>
        <p:spPr>
          <a:xfrm>
            <a:off x="6721852" y="443430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2">
            <a:extLst>
              <a:ext uri="{FF2B5EF4-FFF2-40B4-BE49-F238E27FC236}">
                <a16:creationId xmlns:a16="http://schemas.microsoft.com/office/drawing/2014/main" id="{E6413330-B680-2868-2EF8-8EEA9A210A4A}"/>
              </a:ext>
            </a:extLst>
          </p:cNvPr>
          <p:cNvSpPr/>
          <p:nvPr/>
        </p:nvSpPr>
        <p:spPr>
          <a:xfrm>
            <a:off x="6721852" y="4434300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3">
            <a:extLst>
              <a:ext uri="{FF2B5EF4-FFF2-40B4-BE49-F238E27FC236}">
                <a16:creationId xmlns:a16="http://schemas.microsoft.com/office/drawing/2014/main" id="{F623A355-87B3-A88A-4F18-675D9D9B2F51}"/>
              </a:ext>
            </a:extLst>
          </p:cNvPr>
          <p:cNvSpPr/>
          <p:nvPr/>
        </p:nvSpPr>
        <p:spPr>
          <a:xfrm>
            <a:off x="6721852" y="44343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Text 64">
            <a:extLst>
              <a:ext uri="{FF2B5EF4-FFF2-40B4-BE49-F238E27FC236}">
                <a16:creationId xmlns:a16="http://schemas.microsoft.com/office/drawing/2014/main" id="{B17E729F-0FE1-E2D8-51BE-0F0297BA93B2}"/>
              </a:ext>
            </a:extLst>
          </p:cNvPr>
          <p:cNvSpPr/>
          <p:nvPr/>
        </p:nvSpPr>
        <p:spPr>
          <a:xfrm>
            <a:off x="6996172" y="44800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APPLIED_FLG='1'に更新</a:t>
            </a:r>
            <a:endParaRPr lang="en-US" sz="950" dirty="0"/>
          </a:p>
        </p:txBody>
      </p:sp>
      <p:sp>
        <p:nvSpPr>
          <p:cNvPr id="66" name="Text 65">
            <a:extLst>
              <a:ext uri="{FF2B5EF4-FFF2-40B4-BE49-F238E27FC236}">
                <a16:creationId xmlns:a16="http://schemas.microsoft.com/office/drawing/2014/main" id="{BD8814FE-860A-C57A-6662-7AF34BD086A8}"/>
              </a:ext>
            </a:extLst>
          </p:cNvPr>
          <p:cNvSpPr/>
          <p:nvPr/>
        </p:nvSpPr>
        <p:spPr>
          <a:xfrm>
            <a:off x="668524" y="57053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冪等設計：バッチ失敗時もAPPLIED_FLGが0のまま残り、翌日再実行される。INSERT前に重複チェックを必ず実施。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AE8E-8114-2AD6-029D-DEB0DC0C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503E58A4-2D6E-E205-7A83-A44A3AD5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APPLIED_FLG </a:t>
            </a:r>
            <a:r>
              <a:rPr kumimoji="1" lang="ja-JP" altLang="en-US" dirty="0"/>
              <a:t>状態遷移と操作制御</a:t>
            </a:r>
          </a:p>
        </p:txBody>
      </p:sp>
      <p:sp>
        <p:nvSpPr>
          <p:cNvPr id="3" name="スライド番号プレースホルダ 2">
            <a:extLst>
              <a:ext uri="{FF2B5EF4-FFF2-40B4-BE49-F238E27FC236}">
                <a16:creationId xmlns:a16="http://schemas.microsoft.com/office/drawing/2014/main" id="{6D945776-9702-F23C-5AE4-CCE05B86E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5F81B-DE36-42D3-89DE-0645D30A867D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E29263FC-61C7-43B1-3C33-7B0148A33B0E}"/>
              </a:ext>
            </a:extLst>
          </p:cNvPr>
          <p:cNvSpPr/>
          <p:nvPr/>
        </p:nvSpPr>
        <p:spPr>
          <a:xfrm>
            <a:off x="124458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EEAA1D81-8D4C-07DA-B380-6B04AC83C577}"/>
              </a:ext>
            </a:extLst>
          </p:cNvPr>
          <p:cNvSpPr/>
          <p:nvPr/>
        </p:nvSpPr>
        <p:spPr>
          <a:xfrm>
            <a:off x="1244588" y="1268760"/>
            <a:ext cx="2377440" cy="73152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AA1D8A05-1677-4D2D-41D7-46BAA45EF830}"/>
              </a:ext>
            </a:extLst>
          </p:cNvPr>
          <p:cNvSpPr/>
          <p:nvPr/>
        </p:nvSpPr>
        <p:spPr>
          <a:xfrm>
            <a:off x="1976108" y="1469928"/>
            <a:ext cx="914400" cy="9144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456590C7-9101-EBA1-9E60-665844499283}"/>
              </a:ext>
            </a:extLst>
          </p:cNvPr>
          <p:cNvSpPr/>
          <p:nvPr/>
        </p:nvSpPr>
        <p:spPr>
          <a:xfrm>
            <a:off x="197610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94A3C9A3-6A5E-8C21-4DC4-926DDC01E621}"/>
              </a:ext>
            </a:extLst>
          </p:cNvPr>
          <p:cNvSpPr/>
          <p:nvPr/>
        </p:nvSpPr>
        <p:spPr>
          <a:xfrm>
            <a:off x="124458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</a:t>
            </a:r>
            <a:endParaRPr lang="en-US" sz="140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6D867D84-04D8-92ED-A79D-22375FE46260}"/>
              </a:ext>
            </a:extLst>
          </p:cNvPr>
          <p:cNvSpPr/>
          <p:nvPr/>
        </p:nvSpPr>
        <p:spPr>
          <a:xfrm>
            <a:off x="124458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予約登録直後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</a:t>
            </a:r>
            <a:endParaRPr lang="en-US" sz="1000" dirty="0"/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7686BC04-D1F8-FF81-F1B7-1E9205AD29CC}"/>
              </a:ext>
            </a:extLst>
          </p:cNvPr>
          <p:cNvSpPr/>
          <p:nvPr/>
        </p:nvSpPr>
        <p:spPr>
          <a:xfrm>
            <a:off x="407922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5A482822-6B2C-96A9-4611-7356D003D92E}"/>
              </a:ext>
            </a:extLst>
          </p:cNvPr>
          <p:cNvSpPr/>
          <p:nvPr/>
        </p:nvSpPr>
        <p:spPr>
          <a:xfrm>
            <a:off x="4079228" y="1268760"/>
            <a:ext cx="23774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122015AC-0508-BB99-E360-DAE5CF059201}"/>
              </a:ext>
            </a:extLst>
          </p:cNvPr>
          <p:cNvSpPr/>
          <p:nvPr/>
        </p:nvSpPr>
        <p:spPr>
          <a:xfrm>
            <a:off x="4810748" y="1469928"/>
            <a:ext cx="9144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4F0CBDD1-81ED-C149-8AB3-0A7B58E45F33}"/>
              </a:ext>
            </a:extLst>
          </p:cNvPr>
          <p:cNvSpPr/>
          <p:nvPr/>
        </p:nvSpPr>
        <p:spPr>
          <a:xfrm>
            <a:off x="481074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4E12E9B5-BD2A-B6B9-DFE9-E71ED3F7B19E}"/>
              </a:ext>
            </a:extLst>
          </p:cNvPr>
          <p:cNvSpPr/>
          <p:nvPr/>
        </p:nvSpPr>
        <p:spPr>
          <a:xfrm>
            <a:off x="407922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適用済</a:t>
            </a:r>
            <a:endParaRPr lang="en-US" sz="1400" dirty="0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E02BC422-C107-3C5A-18DB-8E4A49FEE802}"/>
              </a:ext>
            </a:extLst>
          </p:cNvPr>
          <p:cNvSpPr/>
          <p:nvPr/>
        </p:nvSpPr>
        <p:spPr>
          <a:xfrm>
            <a:off x="407922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バッチにより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DTLに反映完了</a:t>
            </a:r>
            <a:endParaRPr lang="en-US" sz="1000" dirty="0"/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FF1E1562-AAA7-442A-522E-CC32959E9C7B}"/>
              </a:ext>
            </a:extLst>
          </p:cNvPr>
          <p:cNvSpPr/>
          <p:nvPr/>
        </p:nvSpPr>
        <p:spPr>
          <a:xfrm>
            <a:off x="6913868" y="1268760"/>
            <a:ext cx="237744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16">
            <a:extLst>
              <a:ext uri="{FF2B5EF4-FFF2-40B4-BE49-F238E27FC236}">
                <a16:creationId xmlns:a16="http://schemas.microsoft.com/office/drawing/2014/main" id="{FD15C2DB-528F-A17F-5CC1-37B9C07994FD}"/>
              </a:ext>
            </a:extLst>
          </p:cNvPr>
          <p:cNvSpPr/>
          <p:nvPr/>
        </p:nvSpPr>
        <p:spPr>
          <a:xfrm>
            <a:off x="6913868" y="1268760"/>
            <a:ext cx="23774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Shape 17">
            <a:extLst>
              <a:ext uri="{FF2B5EF4-FFF2-40B4-BE49-F238E27FC236}">
                <a16:creationId xmlns:a16="http://schemas.microsoft.com/office/drawing/2014/main" id="{A469D65A-A99B-E314-8689-97F9E28E285B}"/>
              </a:ext>
            </a:extLst>
          </p:cNvPr>
          <p:cNvSpPr/>
          <p:nvPr/>
        </p:nvSpPr>
        <p:spPr>
          <a:xfrm>
            <a:off x="7645388" y="1469928"/>
            <a:ext cx="9144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EB038CCD-54CF-635C-EC59-01D146EF48EB}"/>
              </a:ext>
            </a:extLst>
          </p:cNvPr>
          <p:cNvSpPr/>
          <p:nvPr/>
        </p:nvSpPr>
        <p:spPr>
          <a:xfrm>
            <a:off x="7645388" y="146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745905CE-48AF-B723-B8C4-FF85E964735A}"/>
              </a:ext>
            </a:extLst>
          </p:cNvPr>
          <p:cNvSpPr/>
          <p:nvPr/>
        </p:nvSpPr>
        <p:spPr>
          <a:xfrm>
            <a:off x="6913868" y="2475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　消</a:t>
            </a:r>
            <a:endParaRPr lang="en-US" sz="140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620A1096-F064-FA9F-B879-58F64DC683FA}"/>
              </a:ext>
            </a:extLst>
          </p:cNvPr>
          <p:cNvSpPr/>
          <p:nvPr/>
        </p:nvSpPr>
        <p:spPr>
          <a:xfrm>
            <a:off x="6913868" y="282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有効開始日前に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手動取消</a:t>
            </a:r>
            <a:endParaRPr lang="en-US" sz="1000" dirty="0"/>
          </a:p>
        </p:txBody>
      </p:sp>
      <p:sp>
        <p:nvSpPr>
          <p:cNvPr id="85" name="Shape 21">
            <a:extLst>
              <a:ext uri="{FF2B5EF4-FFF2-40B4-BE49-F238E27FC236}">
                <a16:creationId xmlns:a16="http://schemas.microsoft.com/office/drawing/2014/main" id="{3FC4DBB1-4E32-57CE-E65C-B1F40844396F}"/>
              </a:ext>
            </a:extLst>
          </p:cNvPr>
          <p:cNvSpPr/>
          <p:nvPr/>
        </p:nvSpPr>
        <p:spPr>
          <a:xfrm>
            <a:off x="3640316" y="2274600"/>
            <a:ext cx="420624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D5E4EDEC-610B-F70D-A2D3-0FC46BDFED68}"/>
              </a:ext>
            </a:extLst>
          </p:cNvPr>
          <p:cNvSpPr/>
          <p:nvPr/>
        </p:nvSpPr>
        <p:spPr>
          <a:xfrm>
            <a:off x="3896348" y="21557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</a:rPr>
              <a:t>▶</a:t>
            </a:r>
            <a:endParaRPr lang="en-US" sz="1200" dirty="0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DBE1E0F1-4075-24EB-AE9C-7F75FC6E2E3F}"/>
              </a:ext>
            </a:extLst>
          </p:cNvPr>
          <p:cNvSpPr/>
          <p:nvPr/>
        </p:nvSpPr>
        <p:spPr>
          <a:xfrm>
            <a:off x="3393428" y="2411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日次バッチ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（VALID_FROM&lt;=本日）</a:t>
            </a:r>
            <a:endParaRPr lang="en-US" sz="900" dirty="0"/>
          </a:p>
        </p:txBody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ED47F846-360E-4DF1-0F0F-E7A22C881233}"/>
              </a:ext>
            </a:extLst>
          </p:cNvPr>
          <p:cNvSpPr/>
          <p:nvPr/>
        </p:nvSpPr>
        <p:spPr>
          <a:xfrm>
            <a:off x="2433308" y="3298728"/>
            <a:ext cx="448056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25">
            <a:extLst>
              <a:ext uri="{FF2B5EF4-FFF2-40B4-BE49-F238E27FC236}">
                <a16:creationId xmlns:a16="http://schemas.microsoft.com/office/drawing/2014/main" id="{3D783C40-057A-3DF7-BEC1-40D95E334482}"/>
              </a:ext>
            </a:extLst>
          </p:cNvPr>
          <p:cNvSpPr/>
          <p:nvPr/>
        </p:nvSpPr>
        <p:spPr>
          <a:xfrm>
            <a:off x="6776708" y="3170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2626"/>
                </a:solidFill>
              </a:rPr>
              <a:t>▶</a:t>
            </a:r>
            <a:endParaRPr lang="en-US" sz="1200" dirty="0"/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02392982-80C9-5C9A-DE7E-FB6F3B9E8D63}"/>
              </a:ext>
            </a:extLst>
          </p:cNvPr>
          <p:cNvSpPr/>
          <p:nvPr/>
        </p:nvSpPr>
        <p:spPr>
          <a:xfrm>
            <a:off x="3530588" y="339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手動取消（有効開始日前のみ）</a:t>
            </a:r>
            <a:endParaRPr lang="en-US" sz="1000" dirty="0"/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4A092BFF-BB1E-14CD-71D4-007DF88565BA}"/>
              </a:ext>
            </a:extLst>
          </p:cNvPr>
          <p:cNvSpPr/>
          <p:nvPr/>
        </p:nvSpPr>
        <p:spPr>
          <a:xfrm>
            <a:off x="604508" y="3829080"/>
            <a:ext cx="8595360" cy="3657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C75EA727-83D2-FF1C-B09E-2787385A191E}"/>
              </a:ext>
            </a:extLst>
          </p:cNvPr>
          <p:cNvSpPr/>
          <p:nvPr/>
        </p:nvSpPr>
        <p:spPr>
          <a:xfrm>
            <a:off x="741668" y="38473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【操作制御ルール】</a:t>
            </a:r>
            <a:endParaRPr lang="en-US" sz="1300" dirty="0"/>
          </a:p>
        </p:txBody>
      </p:sp>
      <p:sp>
        <p:nvSpPr>
          <p:cNvPr id="93" name="Shape 29">
            <a:extLst>
              <a:ext uri="{FF2B5EF4-FFF2-40B4-BE49-F238E27FC236}">
                <a16:creationId xmlns:a16="http://schemas.microsoft.com/office/drawing/2014/main" id="{FBA81797-5BC1-2C48-4126-C8B9F8FA440B}"/>
              </a:ext>
            </a:extLst>
          </p:cNvPr>
          <p:cNvSpPr/>
          <p:nvPr/>
        </p:nvSpPr>
        <p:spPr>
          <a:xfrm>
            <a:off x="604508" y="424056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30">
            <a:extLst>
              <a:ext uri="{FF2B5EF4-FFF2-40B4-BE49-F238E27FC236}">
                <a16:creationId xmlns:a16="http://schemas.microsoft.com/office/drawing/2014/main" id="{52CF715D-A3CE-4856-5ECF-A32610C2D4A4}"/>
              </a:ext>
            </a:extLst>
          </p:cNvPr>
          <p:cNvSpPr/>
          <p:nvPr/>
        </p:nvSpPr>
        <p:spPr>
          <a:xfrm>
            <a:off x="604508" y="424056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Text 31">
            <a:extLst>
              <a:ext uri="{FF2B5EF4-FFF2-40B4-BE49-F238E27FC236}">
                <a16:creationId xmlns:a16="http://schemas.microsoft.com/office/drawing/2014/main" id="{73EF97A0-A9B8-3BD2-4B6C-C299CA888BAB}"/>
              </a:ext>
            </a:extLst>
          </p:cNvPr>
          <p:cNvSpPr/>
          <p:nvPr/>
        </p:nvSpPr>
        <p:spPr>
          <a:xfrm>
            <a:off x="769100" y="42405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有効開始日当日以降は取消操作をシステムでブロック（画面バリデーション）</a:t>
            </a:r>
            <a:endParaRPr lang="en-US" sz="1150" dirty="0"/>
          </a:p>
        </p:txBody>
      </p:sp>
      <p:sp>
        <p:nvSpPr>
          <p:cNvPr id="96" name="Shape 32">
            <a:extLst>
              <a:ext uri="{FF2B5EF4-FFF2-40B4-BE49-F238E27FC236}">
                <a16:creationId xmlns:a16="http://schemas.microsoft.com/office/drawing/2014/main" id="{2C5971C8-CE78-637F-F75B-D9A6E406F5A3}"/>
              </a:ext>
            </a:extLst>
          </p:cNvPr>
          <p:cNvSpPr/>
          <p:nvPr/>
        </p:nvSpPr>
        <p:spPr>
          <a:xfrm>
            <a:off x="604508" y="474348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Shape 33">
            <a:extLst>
              <a:ext uri="{FF2B5EF4-FFF2-40B4-BE49-F238E27FC236}">
                <a16:creationId xmlns:a16="http://schemas.microsoft.com/office/drawing/2014/main" id="{FE767F43-0239-B520-6F38-7F22FB756402}"/>
              </a:ext>
            </a:extLst>
          </p:cNvPr>
          <p:cNvSpPr/>
          <p:nvPr/>
        </p:nvSpPr>
        <p:spPr>
          <a:xfrm>
            <a:off x="604508" y="474348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8" name="Text 34">
            <a:extLst>
              <a:ext uri="{FF2B5EF4-FFF2-40B4-BE49-F238E27FC236}">
                <a16:creationId xmlns:a16="http://schemas.microsoft.com/office/drawing/2014/main" id="{3A110812-E4A9-6FC3-06F0-6CC4DF6AF059}"/>
              </a:ext>
            </a:extLst>
          </p:cNvPr>
          <p:cNvSpPr/>
          <p:nvPr/>
        </p:nvSpPr>
        <p:spPr>
          <a:xfrm>
            <a:off x="769100" y="4743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同一ユーザー・同一グループへの矛盾した予約（同日に追加+削除）は登録時にエラー</a:t>
            </a:r>
            <a:endParaRPr lang="en-US" sz="1150" dirty="0"/>
          </a:p>
        </p:txBody>
      </p:sp>
      <p:sp>
        <p:nvSpPr>
          <p:cNvPr id="99" name="Shape 35">
            <a:extLst>
              <a:ext uri="{FF2B5EF4-FFF2-40B4-BE49-F238E27FC236}">
                <a16:creationId xmlns:a16="http://schemas.microsoft.com/office/drawing/2014/main" id="{0619525B-4BA7-8FAE-E633-D2E16A6F1E64}"/>
              </a:ext>
            </a:extLst>
          </p:cNvPr>
          <p:cNvSpPr/>
          <p:nvPr/>
        </p:nvSpPr>
        <p:spPr>
          <a:xfrm>
            <a:off x="604508" y="524640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Shape 36">
            <a:extLst>
              <a:ext uri="{FF2B5EF4-FFF2-40B4-BE49-F238E27FC236}">
                <a16:creationId xmlns:a16="http://schemas.microsoft.com/office/drawing/2014/main" id="{BFE8347C-CE9B-AEA9-77DD-466490A55A9D}"/>
              </a:ext>
            </a:extLst>
          </p:cNvPr>
          <p:cNvSpPr/>
          <p:nvPr/>
        </p:nvSpPr>
        <p:spPr>
          <a:xfrm>
            <a:off x="604508" y="524640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Text 37">
            <a:extLst>
              <a:ext uri="{FF2B5EF4-FFF2-40B4-BE49-F238E27FC236}">
                <a16:creationId xmlns:a16="http://schemas.microsoft.com/office/drawing/2014/main" id="{49FD3D06-4BB9-6FD6-B0D5-D765FCB7E60D}"/>
              </a:ext>
            </a:extLst>
          </p:cNvPr>
          <p:cNvSpPr/>
          <p:nvPr/>
        </p:nvSpPr>
        <p:spPr>
          <a:xfrm>
            <a:off x="769100" y="5246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バッチ実行中はWFS申請・承認操作を停止推奨（DEPDTL再展開中の不整合防止）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75229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F716-BCF2-A717-3B73-D5281D45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BE26874E-6F16-E41F-B3F3-A58E8771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テーブル関連図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EEE8E3A0-234C-064F-24E2-352CAB685DC8}"/>
              </a:ext>
            </a:extLst>
          </p:cNvPr>
          <p:cNvSpPr/>
          <p:nvPr/>
        </p:nvSpPr>
        <p:spPr>
          <a:xfrm>
            <a:off x="635888" y="1027012"/>
            <a:ext cx="1371600" cy="32004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FC519C3-CEBF-0EAA-D828-BC08DECD221B}"/>
              </a:ext>
            </a:extLst>
          </p:cNvPr>
          <p:cNvSpPr/>
          <p:nvPr/>
        </p:nvSpPr>
        <p:spPr>
          <a:xfrm>
            <a:off x="635888" y="10270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既存テーブル</a:t>
            </a:r>
            <a:endParaRPr lang="en-US" sz="10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2A956FC-75A9-A7D4-3B7E-311A7BB0AC19}"/>
              </a:ext>
            </a:extLst>
          </p:cNvPr>
          <p:cNvSpPr/>
          <p:nvPr/>
        </p:nvSpPr>
        <p:spPr>
          <a:xfrm>
            <a:off x="2190368" y="1027012"/>
            <a:ext cx="1371600" cy="32004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329C8A4-2380-6BBA-AE39-D9A7CD97E385}"/>
              </a:ext>
            </a:extLst>
          </p:cNvPr>
          <p:cNvSpPr/>
          <p:nvPr/>
        </p:nvSpPr>
        <p:spPr>
          <a:xfrm>
            <a:off x="2190368" y="10270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新規テーブル</a:t>
            </a:r>
            <a:endParaRPr lang="en-US" sz="10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DAD0AC8B-AF66-D643-2DC8-8382D48D2EEF}"/>
              </a:ext>
            </a:extLst>
          </p:cNvPr>
          <p:cNvSpPr/>
          <p:nvPr/>
        </p:nvSpPr>
        <p:spPr>
          <a:xfrm>
            <a:off x="3744848" y="1182460"/>
            <a:ext cx="548640" cy="0"/>
          </a:xfrm>
          <a:prstGeom prst="line">
            <a:avLst/>
          </a:prstGeom>
          <a:noFill/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A5D6D2A3-CAA1-6846-6FEF-F6AE7A38FB14}"/>
              </a:ext>
            </a:extLst>
          </p:cNvPr>
          <p:cNvSpPr/>
          <p:nvPr/>
        </p:nvSpPr>
        <p:spPr>
          <a:xfrm>
            <a:off x="4311776" y="10635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参照関係</a:t>
            </a:r>
            <a:endParaRPr lang="en-US" sz="10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E6E6A8DE-4B11-617C-34ED-5F60751B18D5}"/>
              </a:ext>
            </a:extLst>
          </p:cNvPr>
          <p:cNvSpPr/>
          <p:nvPr/>
        </p:nvSpPr>
        <p:spPr>
          <a:xfrm>
            <a:off x="5482208" y="1182460"/>
            <a:ext cx="54864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354CC62-6011-2B6B-8B1B-0B0E7561A864}"/>
              </a:ext>
            </a:extLst>
          </p:cNvPr>
          <p:cNvSpPr/>
          <p:nvPr/>
        </p:nvSpPr>
        <p:spPr>
          <a:xfrm>
            <a:off x="6049136" y="10635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バッチ反映</a:t>
            </a:r>
            <a:endParaRPr lang="en-US" sz="10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1BDC3F-AD21-96A8-CFF0-AB91EE6D2501}"/>
              </a:ext>
            </a:extLst>
          </p:cNvPr>
          <p:cNvSpPr/>
          <p:nvPr/>
        </p:nvSpPr>
        <p:spPr>
          <a:xfrm>
            <a:off x="635888" y="1520788"/>
            <a:ext cx="3200400" cy="2926080"/>
          </a:xfrm>
          <a:prstGeom prst="rect">
            <a:avLst/>
          </a:prstGeom>
          <a:solidFill>
            <a:srgbClr val="FFF4ED"/>
          </a:solidFill>
          <a:ln w="25400">
            <a:solidFill>
              <a:srgbClr val="E8630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8547186-EF1C-DA4D-1453-F6E27CC838C2}"/>
              </a:ext>
            </a:extLst>
          </p:cNvPr>
          <p:cNvSpPr/>
          <p:nvPr/>
        </p:nvSpPr>
        <p:spPr>
          <a:xfrm>
            <a:off x="635888" y="1520788"/>
            <a:ext cx="3200400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7D4E504-D032-C437-280D-6B56C04F339E}"/>
              </a:ext>
            </a:extLst>
          </p:cNvPr>
          <p:cNvSpPr/>
          <p:nvPr/>
        </p:nvSpPr>
        <p:spPr>
          <a:xfrm>
            <a:off x="681608" y="15390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WFS_CHANGE_RESERVE（新規）</a:t>
            </a:r>
            <a:endParaRPr lang="en-US" sz="1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73CE8C6-37CA-7612-E694-6E6A66B23E9C}"/>
              </a:ext>
            </a:extLst>
          </p:cNvPr>
          <p:cNvSpPr/>
          <p:nvPr/>
        </p:nvSpPr>
        <p:spPr>
          <a:xfrm>
            <a:off x="800480" y="19597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RESERVE_ID     PK</a:t>
            </a:r>
            <a:endParaRPr lang="en-US" sz="10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D1F228D-A63E-2844-E575-FB5F0AF99479}"/>
              </a:ext>
            </a:extLst>
          </p:cNvPr>
          <p:cNvSpPr/>
          <p:nvPr/>
        </p:nvSpPr>
        <p:spPr>
          <a:xfrm>
            <a:off x="800480" y="23071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FK</a:t>
            </a:r>
            <a:endParaRPr lang="en-US" sz="10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C41112B-F0D6-3B04-D490-A0E50EAF699B}"/>
              </a:ext>
            </a:extLst>
          </p:cNvPr>
          <p:cNvSpPr/>
          <p:nvPr/>
        </p:nvSpPr>
        <p:spPr>
          <a:xfrm>
            <a:off x="800480" y="26546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      FK</a:t>
            </a:r>
            <a:endParaRPr lang="en-US" sz="10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82964146-EF66-42FD-1968-26323E7ACA30}"/>
              </a:ext>
            </a:extLst>
          </p:cNvPr>
          <p:cNvSpPr/>
          <p:nvPr/>
        </p:nvSpPr>
        <p:spPr>
          <a:xfrm>
            <a:off x="800480" y="30021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CHANGE_TYPE    A/D</a:t>
            </a:r>
            <a:endParaRPr lang="en-US" sz="10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4945B05-4935-F669-7BDB-619AEA34D96B}"/>
              </a:ext>
            </a:extLst>
          </p:cNvPr>
          <p:cNvSpPr/>
          <p:nvPr/>
        </p:nvSpPr>
        <p:spPr>
          <a:xfrm>
            <a:off x="800480" y="33495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VALID_FROM     有効開始日</a:t>
            </a:r>
            <a:endParaRPr lang="en-US" sz="1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129E7DCC-19F2-088F-141C-265B0FC49992}"/>
              </a:ext>
            </a:extLst>
          </p:cNvPr>
          <p:cNvSpPr/>
          <p:nvPr/>
        </p:nvSpPr>
        <p:spPr>
          <a:xfrm>
            <a:off x="800480" y="36970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APPLIED_FLG    0/1/9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3CE679A1-381D-7786-B313-6498777194BA}"/>
              </a:ext>
            </a:extLst>
          </p:cNvPr>
          <p:cNvSpPr/>
          <p:nvPr/>
        </p:nvSpPr>
        <p:spPr>
          <a:xfrm>
            <a:off x="3854576" y="2782660"/>
            <a:ext cx="1097280" cy="0"/>
          </a:xfrm>
          <a:prstGeom prst="line">
            <a:avLst/>
          </a:prstGeom>
          <a:noFill/>
          <a:ln w="25400">
            <a:solidFill>
              <a:srgbClr val="E8630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E2343BAE-FC37-C439-D5F8-F5E9D6AC47FD}"/>
              </a:ext>
            </a:extLst>
          </p:cNvPr>
          <p:cNvSpPr/>
          <p:nvPr/>
        </p:nvSpPr>
        <p:spPr>
          <a:xfrm>
            <a:off x="3854576" y="280153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バッチ反映▶</a:t>
            </a:r>
            <a:endParaRPr lang="en-US" sz="95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280D4651-918F-CF47-5D63-CDFF7FDAA401}"/>
              </a:ext>
            </a:extLst>
          </p:cNvPr>
          <p:cNvSpPr/>
          <p:nvPr/>
        </p:nvSpPr>
        <p:spPr>
          <a:xfrm>
            <a:off x="5025008" y="1520788"/>
            <a:ext cx="4114800" cy="1298448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F7057F0-F9BC-A25B-F871-4684C0FC83BC}"/>
              </a:ext>
            </a:extLst>
          </p:cNvPr>
          <p:cNvSpPr/>
          <p:nvPr/>
        </p:nvSpPr>
        <p:spPr>
          <a:xfrm>
            <a:off x="5025008" y="1520788"/>
            <a:ext cx="411480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55A3C454-631E-5AB8-F57F-1BBF04FEC3EF}"/>
              </a:ext>
            </a:extLst>
          </p:cNvPr>
          <p:cNvSpPr/>
          <p:nvPr/>
        </p:nvSpPr>
        <p:spPr>
          <a:xfrm>
            <a:off x="5070728" y="15390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WFS_M_USR_GRP_DTL（既存）</a:t>
            </a:r>
            <a:endParaRPr lang="en-US" sz="11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68240019-C644-8AC3-574F-1268125705D4}"/>
              </a:ext>
            </a:extLst>
          </p:cNvPr>
          <p:cNvSpPr/>
          <p:nvPr/>
        </p:nvSpPr>
        <p:spPr>
          <a:xfrm>
            <a:off x="5162168" y="19779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PK/FK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ID（USER_IDまたはグループID）  PK</a:t>
            </a:r>
            <a:endParaRPr lang="en-US" sz="105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F5992C55-DD78-3E3B-210D-B124B760482D}"/>
              </a:ext>
            </a:extLst>
          </p:cNvPr>
          <p:cNvSpPr/>
          <p:nvPr/>
        </p:nvSpPr>
        <p:spPr>
          <a:xfrm>
            <a:off x="7082408" y="2837524"/>
            <a:ext cx="0" cy="320040"/>
          </a:xfrm>
          <a:prstGeom prst="line">
            <a:avLst/>
          </a:prstGeom>
          <a:noFill/>
          <a:ln w="1905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F43EAAD-5749-A856-B84B-91ACB76891D3}"/>
              </a:ext>
            </a:extLst>
          </p:cNvPr>
          <p:cNvSpPr/>
          <p:nvPr/>
        </p:nvSpPr>
        <p:spPr>
          <a:xfrm>
            <a:off x="6762368" y="30569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▼再展開</a:t>
            </a:r>
            <a:endParaRPr lang="en-US" sz="95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2B3AB29-1912-35FC-4432-901A023C2F47}"/>
              </a:ext>
            </a:extLst>
          </p:cNvPr>
          <p:cNvSpPr/>
          <p:nvPr/>
        </p:nvSpPr>
        <p:spPr>
          <a:xfrm>
            <a:off x="5025008" y="3377020"/>
            <a:ext cx="4114800" cy="1298448"/>
          </a:xfrm>
          <a:prstGeom prst="rect">
            <a:avLst/>
          </a:prstGeom>
          <a:solidFill>
            <a:srgbClr val="EEF2FF"/>
          </a:solidFill>
          <a:ln w="19050">
            <a:solidFill>
              <a:srgbClr val="1D3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94CE4F0C-0228-D46A-9484-02A0DFAD8D05}"/>
              </a:ext>
            </a:extLst>
          </p:cNvPr>
          <p:cNvSpPr/>
          <p:nvPr/>
        </p:nvSpPr>
        <p:spPr>
          <a:xfrm>
            <a:off x="5025008" y="3377020"/>
            <a:ext cx="411480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A5943DC4-D6D9-83B2-8606-9322D06363FD}"/>
              </a:ext>
            </a:extLst>
          </p:cNvPr>
          <p:cNvSpPr/>
          <p:nvPr/>
        </p:nvSpPr>
        <p:spPr>
          <a:xfrm>
            <a:off x="5070728" y="33953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WFS_M_USR_GRP_DEPDTL（既存）</a:t>
            </a:r>
            <a:endParaRPr lang="en-US" sz="11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07B817EE-BA8A-3EB3-A033-ABC4ACA9ECC6}"/>
              </a:ext>
            </a:extLst>
          </p:cNvPr>
          <p:cNvSpPr/>
          <p:nvPr/>
        </p:nvSpPr>
        <p:spPr>
          <a:xfrm>
            <a:off x="5162168" y="38342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  PK/FK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USER_ID（展開済みユーザーID）  PK/FK</a:t>
            </a:r>
            <a:endParaRPr lang="en-US" sz="105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F802BC41-0178-3A2C-0641-D0B90971F58C}"/>
              </a:ext>
            </a:extLst>
          </p:cNvPr>
          <p:cNvSpPr/>
          <p:nvPr/>
        </p:nvSpPr>
        <p:spPr>
          <a:xfrm>
            <a:off x="5025008" y="4812628"/>
            <a:ext cx="411480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1306E5BE-CFBB-1449-8161-8C8A74B5B907}"/>
              </a:ext>
            </a:extLst>
          </p:cNvPr>
          <p:cNvSpPr/>
          <p:nvPr/>
        </p:nvSpPr>
        <p:spPr>
          <a:xfrm>
            <a:off x="5070728" y="48583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承認権限判定・メール送信は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このテーブル（DEPDTL）のみを参照</a:t>
            </a:r>
            <a:endParaRPr lang="en-US" sz="105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52745AAA-B011-EA23-48AA-D306AE424DFF}"/>
              </a:ext>
            </a:extLst>
          </p:cNvPr>
          <p:cNvSpPr/>
          <p:nvPr/>
        </p:nvSpPr>
        <p:spPr>
          <a:xfrm>
            <a:off x="1321688" y="4465156"/>
            <a:ext cx="0" cy="658368"/>
          </a:xfrm>
          <a:prstGeom prst="line">
            <a:avLst/>
          </a:prstGeom>
          <a:noFill/>
          <a:ln w="12700">
            <a:solidFill>
              <a:srgbClr val="6B7280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CEF4A4F5-3FAF-858A-D87E-149EF4A5B562}"/>
              </a:ext>
            </a:extLst>
          </p:cNvPr>
          <p:cNvSpPr/>
          <p:nvPr/>
        </p:nvSpPr>
        <p:spPr>
          <a:xfrm>
            <a:off x="635888" y="5141812"/>
            <a:ext cx="228600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8A3532EE-6878-9F78-7D42-D5904963AF10}"/>
              </a:ext>
            </a:extLst>
          </p:cNvPr>
          <p:cNvSpPr/>
          <p:nvPr/>
        </p:nvSpPr>
        <p:spPr>
          <a:xfrm>
            <a:off x="681608" y="51875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TLN_M_USER（既存）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PK / USER_NM</a:t>
            </a:r>
            <a:endParaRPr lang="en-US" sz="1000" dirty="0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5053BE7C-5FDD-92E3-18AE-905EA9338466}"/>
              </a:ext>
            </a:extLst>
          </p:cNvPr>
          <p:cNvSpPr/>
          <p:nvPr/>
        </p:nvSpPr>
        <p:spPr>
          <a:xfrm>
            <a:off x="635888" y="59647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USER_IDの存在確認用</a:t>
            </a:r>
            <a:endParaRPr lang="en-US" sz="950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B64D2B2-DA84-88F2-FC57-C1630069734C}"/>
              </a:ext>
            </a:extLst>
          </p:cNvPr>
          <p:cNvSpPr/>
          <p:nvPr/>
        </p:nvSpPr>
        <p:spPr>
          <a:xfrm>
            <a:off x="3059048" y="5141812"/>
            <a:ext cx="173736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2327D338-25AB-CBC1-29EE-29E7B055CCB8}"/>
              </a:ext>
            </a:extLst>
          </p:cNvPr>
          <p:cNvSpPr/>
          <p:nvPr/>
        </p:nvSpPr>
        <p:spPr>
          <a:xfrm>
            <a:off x="3104768" y="51875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WFS_M_USR_GRP_HED（既存）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WFS_GROUP_ID PK</a:t>
            </a:r>
            <a:endParaRPr lang="en-US" sz="95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255027A2-CB29-C715-33B5-F1FCDD426D4B}"/>
              </a:ext>
            </a:extLst>
          </p:cNvPr>
          <p:cNvSpPr/>
          <p:nvPr/>
        </p:nvSpPr>
        <p:spPr>
          <a:xfrm>
            <a:off x="2464688" y="4465156"/>
            <a:ext cx="5943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DF958ED9-B5EB-34E5-F7BE-4CC68E9368E4}"/>
              </a:ext>
            </a:extLst>
          </p:cNvPr>
          <p:cNvSpPr/>
          <p:nvPr/>
        </p:nvSpPr>
        <p:spPr>
          <a:xfrm>
            <a:off x="3059048" y="59647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GROUP_IDの存在確認用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33276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2EF0-9378-384D-23F3-5B7C3FCE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AD09C995-D446-5F51-F787-FBCF87BF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必要な画面構成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77F2924-ADED-D337-1774-ED8900B91C53}"/>
              </a:ext>
            </a:extLst>
          </p:cNvPr>
          <p:cNvSpPr/>
          <p:nvPr/>
        </p:nvSpPr>
        <p:spPr>
          <a:xfrm>
            <a:off x="560512" y="1111556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0828270F-E964-DAD1-665C-14C2164D3B6E}"/>
              </a:ext>
            </a:extLst>
          </p:cNvPr>
          <p:cNvSpPr/>
          <p:nvPr/>
        </p:nvSpPr>
        <p:spPr>
          <a:xfrm>
            <a:off x="560512" y="1111556"/>
            <a:ext cx="8595360" cy="38404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0DAE4C4B-00EB-D6EF-54D2-F3C11D8B9407}"/>
              </a:ext>
            </a:extLst>
          </p:cNvPr>
          <p:cNvSpPr/>
          <p:nvPr/>
        </p:nvSpPr>
        <p:spPr>
          <a:xfrm>
            <a:off x="697672" y="11389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変更予約登録画面（新規）</a:t>
            </a:r>
            <a:endParaRPr lang="en-US" sz="13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80897696-D1F2-5D57-AADC-AD75B565698C}"/>
              </a:ext>
            </a:extLst>
          </p:cNvPr>
          <p:cNvSpPr/>
          <p:nvPr/>
        </p:nvSpPr>
        <p:spPr>
          <a:xfrm>
            <a:off x="8040304" y="116642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63C31F8F-5EF0-82B5-8573-94BF0FCE3EC8}"/>
              </a:ext>
            </a:extLst>
          </p:cNvPr>
          <p:cNvSpPr/>
          <p:nvPr/>
        </p:nvSpPr>
        <p:spPr>
          <a:xfrm>
            <a:off x="8040304" y="11664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000" dirty="0"/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E9233E42-9638-5DFB-3764-13737967947C}"/>
              </a:ext>
            </a:extLst>
          </p:cNvPr>
          <p:cNvSpPr/>
          <p:nvPr/>
        </p:nvSpPr>
        <p:spPr>
          <a:xfrm>
            <a:off x="725104" y="163276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FE5D80ED-E11B-C1AD-CFA2-2767EB298F67}"/>
              </a:ext>
            </a:extLst>
          </p:cNvPr>
          <p:cNvSpPr/>
          <p:nvPr/>
        </p:nvSpPr>
        <p:spPr>
          <a:xfrm>
            <a:off x="962848" y="15687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グループ選択（WFS_M_USR_GRP_HED から検索）</a:t>
            </a:r>
            <a:endParaRPr lang="en-US" sz="105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A6559F38-EFFE-E38C-D4ED-9CEC85248954}"/>
              </a:ext>
            </a:extLst>
          </p:cNvPr>
          <p:cNvSpPr/>
          <p:nvPr/>
        </p:nvSpPr>
        <p:spPr>
          <a:xfrm>
            <a:off x="725104" y="195280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A8E11876-A6DB-DA11-CA19-1C1635CA6367}"/>
              </a:ext>
            </a:extLst>
          </p:cNvPr>
          <p:cNvSpPr/>
          <p:nvPr/>
        </p:nvSpPr>
        <p:spPr>
          <a:xfrm>
            <a:off x="962848" y="18887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ユーザー選択（TLN_M_USER から検索）</a:t>
            </a:r>
            <a:endParaRPr lang="en-US" sz="105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4A34D0C6-BA11-17FF-45EE-360E1D9C4934}"/>
              </a:ext>
            </a:extLst>
          </p:cNvPr>
          <p:cNvSpPr/>
          <p:nvPr/>
        </p:nvSpPr>
        <p:spPr>
          <a:xfrm>
            <a:off x="725104" y="227284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4FAB82C-1E03-1385-0D5F-F2ACC272C3CF}"/>
              </a:ext>
            </a:extLst>
          </p:cNvPr>
          <p:cNvSpPr/>
          <p:nvPr/>
        </p:nvSpPr>
        <p:spPr>
          <a:xfrm>
            <a:off x="962848" y="220883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変更種別選択（追加 / 削除）</a:t>
            </a:r>
            <a:endParaRPr lang="en-US" sz="105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FB06973C-9CD5-C82F-F8D3-1A18BE215737}"/>
              </a:ext>
            </a:extLst>
          </p:cNvPr>
          <p:cNvSpPr/>
          <p:nvPr/>
        </p:nvSpPr>
        <p:spPr>
          <a:xfrm>
            <a:off x="5022784" y="163276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67E7AA10-9577-4336-2B68-BE08787258F7}"/>
              </a:ext>
            </a:extLst>
          </p:cNvPr>
          <p:cNvSpPr/>
          <p:nvPr/>
        </p:nvSpPr>
        <p:spPr>
          <a:xfrm>
            <a:off x="5260528" y="15687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有効開始日入力</a:t>
            </a:r>
            <a:endParaRPr lang="en-US" sz="105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7ADACB53-A98C-2185-7336-2839B7855FA8}"/>
              </a:ext>
            </a:extLst>
          </p:cNvPr>
          <p:cNvSpPr/>
          <p:nvPr/>
        </p:nvSpPr>
        <p:spPr>
          <a:xfrm>
            <a:off x="5022784" y="1952804"/>
            <a:ext cx="182880" cy="18288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BBD6F9D2-8300-4465-3BD2-7454439233EA}"/>
              </a:ext>
            </a:extLst>
          </p:cNvPr>
          <p:cNvSpPr/>
          <p:nvPr/>
        </p:nvSpPr>
        <p:spPr>
          <a:xfrm>
            <a:off x="5260528" y="18887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確定→ WFS_CHANGE_RESERVE に INSERT</a:t>
            </a:r>
            <a:endParaRPr lang="en-US" sz="105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F50DB975-8CE0-033B-D3B9-363F32CBCD09}"/>
              </a:ext>
            </a:extLst>
          </p:cNvPr>
          <p:cNvSpPr/>
          <p:nvPr/>
        </p:nvSpPr>
        <p:spPr>
          <a:xfrm>
            <a:off x="560512" y="2684324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E0C506A3-629A-3E23-C4A1-A1092E6B62F0}"/>
              </a:ext>
            </a:extLst>
          </p:cNvPr>
          <p:cNvSpPr/>
          <p:nvPr/>
        </p:nvSpPr>
        <p:spPr>
          <a:xfrm>
            <a:off x="560512" y="2684324"/>
            <a:ext cx="8595360" cy="384048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F6EA31B7-BF40-EE2D-1F30-C15F10063DE9}"/>
              </a:ext>
            </a:extLst>
          </p:cNvPr>
          <p:cNvSpPr/>
          <p:nvPr/>
        </p:nvSpPr>
        <p:spPr>
          <a:xfrm>
            <a:off x="697672" y="27117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変更予約一覧・取消画面（新規）</a:t>
            </a:r>
            <a:endParaRPr lang="en-US" sz="13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C03057FE-6F3D-1506-D705-138D3F888692}"/>
              </a:ext>
            </a:extLst>
          </p:cNvPr>
          <p:cNvSpPr/>
          <p:nvPr/>
        </p:nvSpPr>
        <p:spPr>
          <a:xfrm>
            <a:off x="8040304" y="2739188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6946B4B6-69A0-2494-20F8-803760782CD9}"/>
              </a:ext>
            </a:extLst>
          </p:cNvPr>
          <p:cNvSpPr/>
          <p:nvPr/>
        </p:nvSpPr>
        <p:spPr>
          <a:xfrm>
            <a:off x="8040304" y="27391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000" dirty="0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35A0A3D3-0A3F-F2FF-303C-F2E59008752B}"/>
              </a:ext>
            </a:extLst>
          </p:cNvPr>
          <p:cNvSpPr/>
          <p:nvPr/>
        </p:nvSpPr>
        <p:spPr>
          <a:xfrm>
            <a:off x="725104" y="320553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3A67A795-908C-C518-5C29-D01B85DCB67D}"/>
              </a:ext>
            </a:extLst>
          </p:cNvPr>
          <p:cNvSpPr/>
          <p:nvPr/>
        </p:nvSpPr>
        <p:spPr>
          <a:xfrm>
            <a:off x="962848" y="31415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未適用予約の一覧表示（APPLIED_FLG=0）</a:t>
            </a:r>
            <a:endParaRPr lang="en-US" sz="1050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A867EB0A-A855-79E1-C4D1-71B0F4C34A3F}"/>
              </a:ext>
            </a:extLst>
          </p:cNvPr>
          <p:cNvSpPr/>
          <p:nvPr/>
        </p:nvSpPr>
        <p:spPr>
          <a:xfrm>
            <a:off x="725104" y="352557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86A68657-6212-18BE-3BA1-CD5ED3FBC637}"/>
              </a:ext>
            </a:extLst>
          </p:cNvPr>
          <p:cNvSpPr/>
          <p:nvPr/>
        </p:nvSpPr>
        <p:spPr>
          <a:xfrm>
            <a:off x="962848" y="346156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有効開始日・グループ・ユーザーで絞り込み</a:t>
            </a:r>
            <a:endParaRPr lang="en-US" sz="1050" dirty="0"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6606D421-8440-2A21-D628-37E2544CE2B9}"/>
              </a:ext>
            </a:extLst>
          </p:cNvPr>
          <p:cNvSpPr/>
          <p:nvPr/>
        </p:nvSpPr>
        <p:spPr>
          <a:xfrm>
            <a:off x="725104" y="384561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DF34FB97-ADE0-1B64-7B74-A8CCA271F35F}"/>
              </a:ext>
            </a:extLst>
          </p:cNvPr>
          <p:cNvSpPr/>
          <p:nvPr/>
        </p:nvSpPr>
        <p:spPr>
          <a:xfrm>
            <a:off x="962848" y="37816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有効開始日前の予約は取消ボタンを表示</a:t>
            </a:r>
            <a:endParaRPr lang="en-US" sz="105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9DA505F6-F7F6-53B6-845D-D24DB51AA22B}"/>
              </a:ext>
            </a:extLst>
          </p:cNvPr>
          <p:cNvSpPr/>
          <p:nvPr/>
        </p:nvSpPr>
        <p:spPr>
          <a:xfrm>
            <a:off x="5022784" y="320553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5A5CF08C-072C-DB34-9B10-EADCBF81F349}"/>
              </a:ext>
            </a:extLst>
          </p:cNvPr>
          <p:cNvSpPr/>
          <p:nvPr/>
        </p:nvSpPr>
        <p:spPr>
          <a:xfrm>
            <a:off x="5260528" y="31415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当日以降の予約は取消ボタンを非表示（制御）</a:t>
            </a:r>
            <a:endParaRPr lang="en-US" sz="105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7C367785-5545-D45E-BFAB-661001320351}"/>
              </a:ext>
            </a:extLst>
          </p:cNvPr>
          <p:cNvSpPr/>
          <p:nvPr/>
        </p:nvSpPr>
        <p:spPr>
          <a:xfrm>
            <a:off x="5022784" y="3525572"/>
            <a:ext cx="182880" cy="182880"/>
          </a:xfrm>
          <a:prstGeom prst="rect">
            <a:avLst/>
          </a:prstGeom>
          <a:solidFill>
            <a:srgbClr val="6D4E9E"/>
          </a:solidFill>
          <a:ln w="12700">
            <a:solidFill>
              <a:srgbClr val="6D4E9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1417920D-80F7-757E-7BB6-80C209970C44}"/>
              </a:ext>
            </a:extLst>
          </p:cNvPr>
          <p:cNvSpPr/>
          <p:nvPr/>
        </p:nvSpPr>
        <p:spPr>
          <a:xfrm>
            <a:off x="5260528" y="346156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適用済・取消済の履歴も参照可能</a:t>
            </a:r>
            <a:endParaRPr lang="en-US" sz="1050" dirty="0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0355B712-3165-05F3-A3DC-8F45CA22356E}"/>
              </a:ext>
            </a:extLst>
          </p:cNvPr>
          <p:cNvSpPr/>
          <p:nvPr/>
        </p:nvSpPr>
        <p:spPr>
          <a:xfrm>
            <a:off x="560512" y="4257092"/>
            <a:ext cx="8595360" cy="1444752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0C125F80-B8E0-63B5-AEEA-0F162C1D8058}"/>
              </a:ext>
            </a:extLst>
          </p:cNvPr>
          <p:cNvSpPr/>
          <p:nvPr/>
        </p:nvSpPr>
        <p:spPr>
          <a:xfrm>
            <a:off x="560512" y="4257092"/>
            <a:ext cx="8595360" cy="384048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8C396BF6-CA01-4B53-E3B2-E2E22ACE6398}"/>
              </a:ext>
            </a:extLst>
          </p:cNvPr>
          <p:cNvSpPr/>
          <p:nvPr/>
        </p:nvSpPr>
        <p:spPr>
          <a:xfrm>
            <a:off x="697672" y="42845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ユーザーグループ照会画面（既存改良）</a:t>
            </a:r>
            <a:endParaRPr lang="en-US" sz="130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F7AD52BE-ED42-291F-1BFB-1EB9E6C3E91E}"/>
              </a:ext>
            </a:extLst>
          </p:cNvPr>
          <p:cNvSpPr/>
          <p:nvPr/>
        </p:nvSpPr>
        <p:spPr>
          <a:xfrm>
            <a:off x="8040304" y="4311956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B3E5084E-56B6-0530-3171-6498CC55451F}"/>
              </a:ext>
            </a:extLst>
          </p:cNvPr>
          <p:cNvSpPr/>
          <p:nvPr/>
        </p:nvSpPr>
        <p:spPr>
          <a:xfrm>
            <a:off x="8040304" y="43119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既存改良</a:t>
            </a:r>
            <a:endParaRPr lang="en-US" sz="1000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45FAA58A-B005-9BEB-01F5-A6B60E012A57}"/>
              </a:ext>
            </a:extLst>
          </p:cNvPr>
          <p:cNvSpPr/>
          <p:nvPr/>
        </p:nvSpPr>
        <p:spPr>
          <a:xfrm>
            <a:off x="725104" y="477830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DE326D7-0A97-A54A-4B30-D53066F2031B}"/>
              </a:ext>
            </a:extLst>
          </p:cNvPr>
          <p:cNvSpPr/>
          <p:nvPr/>
        </p:nvSpPr>
        <p:spPr>
          <a:xfrm>
            <a:off x="962848" y="47142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ユーザーIDで検索 → 所属グループ一覧を表示</a:t>
            </a:r>
            <a:endParaRPr lang="en-US" sz="1050" dirty="0"/>
          </a:p>
        </p:txBody>
      </p:sp>
      <p:sp>
        <p:nvSpPr>
          <p:cNvPr id="79" name="Shape 40">
            <a:extLst>
              <a:ext uri="{FF2B5EF4-FFF2-40B4-BE49-F238E27FC236}">
                <a16:creationId xmlns:a16="http://schemas.microsoft.com/office/drawing/2014/main" id="{DCEDECAA-7F4B-4A3F-0025-FDD6C12F6C05}"/>
              </a:ext>
            </a:extLst>
          </p:cNvPr>
          <p:cNvSpPr/>
          <p:nvPr/>
        </p:nvSpPr>
        <p:spPr>
          <a:xfrm>
            <a:off x="725104" y="509834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B05EB518-6B20-B300-AA4F-A43F76B40C2E}"/>
              </a:ext>
            </a:extLst>
          </p:cNvPr>
          <p:cNvSpPr/>
          <p:nvPr/>
        </p:nvSpPr>
        <p:spPr>
          <a:xfrm>
            <a:off x="962848" y="50343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DEPDTL を USER_ID で引く（読み取り専用）</a:t>
            </a:r>
            <a:endParaRPr lang="en-US" sz="1050" dirty="0"/>
          </a:p>
        </p:txBody>
      </p:sp>
      <p:sp>
        <p:nvSpPr>
          <p:cNvPr id="81" name="Shape 42">
            <a:extLst>
              <a:ext uri="{FF2B5EF4-FFF2-40B4-BE49-F238E27FC236}">
                <a16:creationId xmlns:a16="http://schemas.microsoft.com/office/drawing/2014/main" id="{98BCA188-B6D8-E2C0-B263-0FBEAA06E9FB}"/>
              </a:ext>
            </a:extLst>
          </p:cNvPr>
          <p:cNvSpPr/>
          <p:nvPr/>
        </p:nvSpPr>
        <p:spPr>
          <a:xfrm>
            <a:off x="5022784" y="477830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30ADCAC6-70B0-46F7-767E-9CE20627CDF5}"/>
              </a:ext>
            </a:extLst>
          </p:cNvPr>
          <p:cNvSpPr/>
          <p:nvPr/>
        </p:nvSpPr>
        <p:spPr>
          <a:xfrm>
            <a:off x="5260528" y="47142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現在有効な所属グループのみ表示</a:t>
            </a:r>
            <a:endParaRPr lang="en-US" sz="1050" dirty="0"/>
          </a:p>
        </p:txBody>
      </p:sp>
      <p:sp>
        <p:nvSpPr>
          <p:cNvPr id="83" name="Shape 44">
            <a:extLst>
              <a:ext uri="{FF2B5EF4-FFF2-40B4-BE49-F238E27FC236}">
                <a16:creationId xmlns:a16="http://schemas.microsoft.com/office/drawing/2014/main" id="{3228B752-2715-4B28-9E79-4404874DEFEB}"/>
              </a:ext>
            </a:extLst>
          </p:cNvPr>
          <p:cNvSpPr/>
          <p:nvPr/>
        </p:nvSpPr>
        <p:spPr>
          <a:xfrm>
            <a:off x="5022784" y="5098340"/>
            <a:ext cx="182880" cy="182880"/>
          </a:xfrm>
          <a:prstGeom prst="rect">
            <a:avLst/>
          </a:prstGeom>
          <a:solidFill>
            <a:srgbClr val="1D3261"/>
          </a:solidFill>
          <a:ln w="12700">
            <a:solidFill>
              <a:srgbClr val="1D32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45">
            <a:extLst>
              <a:ext uri="{FF2B5EF4-FFF2-40B4-BE49-F238E27FC236}">
                <a16:creationId xmlns:a16="http://schemas.microsoft.com/office/drawing/2014/main" id="{39BE5D86-F1B1-6686-E039-0D86378DE46A}"/>
              </a:ext>
            </a:extLst>
          </p:cNvPr>
          <p:cNvSpPr/>
          <p:nvPr/>
        </p:nvSpPr>
        <p:spPr>
          <a:xfrm>
            <a:off x="5260528" y="50343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未来の予約状況は予約一覧画面で確認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420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technopro">
      <a:dk1>
        <a:srgbClr val="000000"/>
      </a:dk1>
      <a:lt1>
        <a:sysClr val="window" lastClr="FFFFFF"/>
      </a:lt1>
      <a:dk2>
        <a:srgbClr val="00AEBD"/>
      </a:dk2>
      <a:lt2>
        <a:srgbClr val="EBEAE8"/>
      </a:lt2>
      <a:accent1>
        <a:srgbClr val="B6DAE5"/>
      </a:accent1>
      <a:accent2>
        <a:srgbClr val="FBCC95"/>
      </a:accent2>
      <a:accent3>
        <a:srgbClr val="C5E8BF"/>
      </a:accent3>
      <a:accent4>
        <a:srgbClr val="EDBBD4"/>
      </a:accent4>
      <a:accent5>
        <a:srgbClr val="008096"/>
      </a:accent5>
      <a:accent6>
        <a:srgbClr val="EA8712"/>
      </a:accent6>
      <a:hlink>
        <a:srgbClr val="008096"/>
      </a:hlink>
      <a:folHlink>
        <a:srgbClr val="EA8712"/>
      </a:folHlink>
    </a:clrScheme>
    <a:fontScheme name="TechnoPr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デザインの設定">
  <a:themeElements>
    <a:clrScheme name="technopro">
      <a:dk1>
        <a:srgbClr val="000000"/>
      </a:dk1>
      <a:lt1>
        <a:sysClr val="window" lastClr="FFFFFF"/>
      </a:lt1>
      <a:dk2>
        <a:srgbClr val="00AEBD"/>
      </a:dk2>
      <a:lt2>
        <a:srgbClr val="EBEAE8"/>
      </a:lt2>
      <a:accent1>
        <a:srgbClr val="B6DAE5"/>
      </a:accent1>
      <a:accent2>
        <a:srgbClr val="FBCC95"/>
      </a:accent2>
      <a:accent3>
        <a:srgbClr val="C5E8BF"/>
      </a:accent3>
      <a:accent4>
        <a:srgbClr val="EDBBD4"/>
      </a:accent4>
      <a:accent5>
        <a:srgbClr val="008096"/>
      </a:accent5>
      <a:accent6>
        <a:srgbClr val="EA8712"/>
      </a:accent6>
      <a:hlink>
        <a:srgbClr val="008096"/>
      </a:hlink>
      <a:folHlink>
        <a:srgbClr val="EA8712"/>
      </a:folHlink>
    </a:clrScheme>
    <a:fontScheme name="TechnoPr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2351</TotalTime>
  <Words>536</Words>
  <Application>Microsoft Office PowerPoint</Application>
  <PresentationFormat>A4 210 x 297 mm</PresentationFormat>
  <Paragraphs>137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Verdana</vt:lpstr>
      <vt:lpstr>デザインの設定</vt:lpstr>
      <vt:lpstr>1_デザインの設定</vt:lpstr>
      <vt:lpstr>TALON × WFSシステムメンテ</vt:lpstr>
      <vt:lpstr>PowerPoint プレゼンテーション</vt:lpstr>
      <vt:lpstr>PowerPoint プレゼンテーション</vt:lpstr>
      <vt:lpstr>WFSのメンテナンスの複雑性</vt:lpstr>
      <vt:lpstr>運用フロー全体像</vt:lpstr>
      <vt:lpstr>APPLIED_FLG 状態遷移と操作制御</vt:lpstr>
      <vt:lpstr>テーブル関連図</vt:lpstr>
      <vt:lpstr>必要な画面構成</vt:lpstr>
      <vt:lpstr>PowerPoint プレゼンテーション</vt:lpstr>
    </vt:vector>
  </TitlesOfParts>
  <Company>(株)博報堂ＤＹホールディングス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(株)博報堂ＤＹホールディングス</dc:creator>
  <cp:lastModifiedBy>知行 堀之内</cp:lastModifiedBy>
  <cp:revision>108</cp:revision>
  <dcterms:created xsi:type="dcterms:W3CDTF">2013-06-26T05:34:41Z</dcterms:created>
  <dcterms:modified xsi:type="dcterms:W3CDTF">2026-03-15T05:47:40Z</dcterms:modified>
</cp:coreProperties>
</file>